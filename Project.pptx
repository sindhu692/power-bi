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76" r:id="rId9"/>
    <p:sldId id="262" r:id="rId10"/>
    <p:sldId id="263" r:id="rId11"/>
    <p:sldId id="264" r:id="rId12"/>
    <p:sldId id="265" r:id="rId13"/>
    <p:sldId id="266" r:id="rId14"/>
    <p:sldId id="267" r:id="rId15"/>
    <p:sldId id="268" r:id="rId16"/>
    <p:sldId id="275" r:id="rId17"/>
    <p:sldId id="269" r:id="rId18"/>
    <p:sldId id="270" r:id="rId19"/>
    <p:sldId id="271" r:id="rId20"/>
    <p:sldId id="272" r:id="rId21"/>
    <p:sldId id="273" r:id="rId22"/>
    <p:sldId id="274" r:id="rId23"/>
    <p:sldId id="282" r:id="rId24"/>
    <p:sldId id="283" r:id="rId25"/>
    <p:sldId id="287" r:id="rId26"/>
    <p:sldId id="288" r:id="rId27"/>
    <p:sldId id="289" r:id="rId28"/>
    <p:sldId id="292" r:id="rId29"/>
    <p:sldId id="291" r:id="rId30"/>
    <p:sldId id="293" r:id="rId31"/>
    <p:sldId id="295" r:id="rId32"/>
    <p:sldId id="294" r:id="rId33"/>
  </p:sldIdLst>
  <p:sldSz cx="12192000" cy="6858000"/>
  <p:notesSz cx="6858000" cy="9144000"/>
  <p:custDataLst>
    <p:tags r:id="rId3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64" userDrawn="1">
          <p15:clr>
            <a:srgbClr val="A4A3A4"/>
          </p15:clr>
        </p15:guide>
        <p15:guide id="2" pos="389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F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264"/>
        <p:guide pos="389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tags" Target="tags/tag22.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1" Type="http://schemas.openxmlformats.org/officeDocument/2006/relationships/slideLayout" Target="../slideLayouts/slideLayout2.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680"/>
            <a:ext cx="8129270" cy="2387600"/>
          </a:xfrm>
        </p:spPr>
        <p:txBody>
          <a:bodyPr>
            <a:noAutofit/>
          </a:bodyPr>
          <a:lstStyle/>
          <a:p>
            <a:r>
              <a:rPr lang="en-US" altLang="en-US" sz="4400" b="1" dirty="0">
                <a:solidFill>
                  <a:srgbClr val="FF0000"/>
                </a:solidFill>
                <a:latin typeface="Times New Roman" panose="02020603050405020304" charset="0"/>
                <a:cs typeface="Times New Roman" panose="02020603050405020304" charset="0"/>
              </a:rPr>
              <a:t>PHARMACEUTICAL SALES </a:t>
            </a:r>
            <a:br>
              <a:rPr lang="en-US" altLang="en-US" sz="4400" b="1" dirty="0">
                <a:solidFill>
                  <a:srgbClr val="FF0000"/>
                </a:solidFill>
                <a:latin typeface="Times New Roman" panose="02020603050405020304" charset="0"/>
                <a:cs typeface="Times New Roman" panose="02020603050405020304" charset="0"/>
              </a:rPr>
            </a:br>
            <a:r>
              <a:rPr lang="en-US" altLang="en-US" sz="4400" b="1" dirty="0">
                <a:solidFill>
                  <a:srgbClr val="FF0000"/>
                </a:solidFill>
                <a:latin typeface="Times New Roman" panose="02020603050405020304" charset="0"/>
                <a:cs typeface="Times New Roman" panose="02020603050405020304" charset="0"/>
              </a:rPr>
              <a:t>&amp;</a:t>
            </a:r>
            <a:br>
              <a:rPr lang="en-US" altLang="en-US" sz="4400" b="1" dirty="0">
                <a:solidFill>
                  <a:srgbClr val="FF0000"/>
                </a:solidFill>
                <a:latin typeface="Times New Roman" panose="02020603050405020304" charset="0"/>
                <a:cs typeface="Times New Roman" panose="02020603050405020304" charset="0"/>
              </a:rPr>
            </a:br>
            <a:r>
              <a:rPr lang="en-US" altLang="en-US" sz="4400" b="1" dirty="0">
                <a:solidFill>
                  <a:srgbClr val="FF0000"/>
                </a:solidFill>
                <a:latin typeface="Times New Roman" panose="02020603050405020304" charset="0"/>
                <a:cs typeface="Times New Roman" panose="02020603050405020304" charset="0"/>
              </a:rPr>
              <a:t> CUSTOMER INSIGHTS</a:t>
            </a:r>
            <a:endParaRPr lang="en-US" altLang="en-US" sz="4400" b="1" dirty="0">
              <a:solidFill>
                <a:srgbClr val="FF0000"/>
              </a:solidFill>
              <a:latin typeface="Times New Roman" panose="02020603050405020304" charset="0"/>
              <a:cs typeface="Times New Roman" panose="02020603050405020304" charset="0"/>
            </a:endParaRPr>
          </a:p>
        </p:txBody>
      </p:sp>
      <p:sp>
        <p:nvSpPr>
          <p:cNvPr id="3" name="Subtitle 2"/>
          <p:cNvSpPr>
            <a:spLocks noGrp="1"/>
          </p:cNvSpPr>
          <p:nvPr>
            <p:ph type="subTitle" idx="1"/>
          </p:nvPr>
        </p:nvSpPr>
        <p:spPr>
          <a:xfrm>
            <a:off x="7012305" y="4382770"/>
            <a:ext cx="3655695" cy="875030"/>
          </a:xfrm>
        </p:spPr>
        <p:txBody>
          <a:bodyPr>
            <a:noAutofit/>
          </a:bodyPr>
          <a:lstStyle/>
          <a:p>
            <a:pPr>
              <a:lnSpc>
                <a:spcPct val="150000"/>
              </a:lnSpc>
            </a:pPr>
            <a:r>
              <a:rPr lang="en-US" altLang="en-US" sz="2000">
                <a:latin typeface="Times New Roman" panose="02020603050405020304" charset="0"/>
                <a:cs typeface="Times New Roman" panose="02020603050405020304" charset="0"/>
                <a:sym typeface="+mn-ea"/>
              </a:rPr>
              <a:t>K.Sindhu Sree</a:t>
            </a:r>
            <a:br>
              <a:rPr lang="en-US" altLang="en-US" sz="2000">
                <a:latin typeface="Times New Roman" panose="02020603050405020304" charset="0"/>
                <a:cs typeface="Times New Roman" panose="02020603050405020304" charset="0"/>
                <a:sym typeface="+mn-ea"/>
              </a:rPr>
            </a:br>
            <a:r>
              <a:rPr lang="en-US" altLang="en-US" sz="2000" b="1">
                <a:latin typeface="Times New Roman" panose="02020603050405020304" charset="0"/>
                <a:cs typeface="Times New Roman" panose="02020603050405020304" charset="0"/>
              </a:rPr>
              <a:t>Presented By </a:t>
            </a:r>
            <a:endParaRPr lang="en-US" altLang="en-US" sz="2000" b="1">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4000" b="1">
                <a:latin typeface="Times New Roman" panose="02020603050405020304" charset="0"/>
                <a:cs typeface="Times New Roman" panose="02020603050405020304" charset="0"/>
              </a:rPr>
              <a:t>Objective: </a:t>
            </a:r>
            <a:endParaRPr lang="en-US" altLang="en-US" sz="40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pPr algn="just">
              <a:lnSpc>
                <a:spcPct val="150000"/>
              </a:lnSpc>
            </a:pPr>
            <a:r>
              <a:rPr lang="en-US" altLang="en-US" sz="2400">
                <a:latin typeface="Times New Roman" panose="02020603050405020304" charset="0"/>
                <a:cs typeface="Times New Roman" panose="02020603050405020304" charset="0"/>
                <a:sym typeface="+mn-ea"/>
              </a:rPr>
              <a:t>Problem statement</a:t>
            </a:r>
            <a:endParaRPr lang="en-US" altLang="en-US" sz="2400">
              <a:latin typeface="Times New Roman" panose="02020603050405020304" charset="0"/>
              <a:cs typeface="Times New Roman" panose="02020603050405020304" charset="0"/>
              <a:sym typeface="+mn-ea"/>
            </a:endParaRPr>
          </a:p>
          <a:p>
            <a:pPr algn="just">
              <a:lnSpc>
                <a:spcPct val="150000"/>
              </a:lnSpc>
            </a:pPr>
            <a:r>
              <a:rPr lang="en-US" altLang="en-US" sz="2400">
                <a:latin typeface="Times New Roman" panose="02020603050405020304" charset="0"/>
                <a:cs typeface="Times New Roman" panose="02020603050405020304" charset="0"/>
                <a:sym typeface="+mn-ea"/>
              </a:rPr>
              <a:t>Architecture </a:t>
            </a:r>
            <a:endParaRPr lang="en-US" altLang="en-US" sz="2400">
              <a:latin typeface="Times New Roman" panose="02020603050405020304" charset="0"/>
              <a:cs typeface="Times New Roman" panose="02020603050405020304" charset="0"/>
              <a:sym typeface="+mn-ea"/>
            </a:endParaRPr>
          </a:p>
          <a:p>
            <a:pPr algn="just">
              <a:lnSpc>
                <a:spcPct val="150000"/>
              </a:lnSpc>
            </a:pPr>
            <a:r>
              <a:rPr lang="en-US" altLang="en-US" sz="2400">
                <a:latin typeface="Times New Roman" panose="02020603050405020304" charset="0"/>
                <a:cs typeface="Times New Roman" panose="02020603050405020304" charset="0"/>
                <a:sym typeface="+mn-ea"/>
              </a:rPr>
              <a:t>Conclusion</a:t>
            </a:r>
            <a:endParaRPr lang="en-US" altLang="en-US" sz="2400">
              <a:latin typeface="Times New Roman" panose="02020603050405020304" charset="0"/>
              <a:cs typeface="Times New Roman" panose="02020603050405020304" charset="0"/>
              <a:sym typeface="+mn-ea"/>
            </a:endParaRPr>
          </a:p>
          <a:p>
            <a:pPr algn="just">
              <a:lnSpc>
                <a:spcPct val="150000"/>
              </a:lnSpc>
            </a:pPr>
            <a:r>
              <a:rPr lang="en-US" altLang="en-US" sz="2400">
                <a:latin typeface="Times New Roman" panose="02020603050405020304" charset="0"/>
                <a:cs typeface="Times New Roman" panose="02020603050405020304" charset="0"/>
                <a:sym typeface="+mn-ea"/>
              </a:rPr>
              <a:t>Future Enhancements &amp;Business Impact </a:t>
            </a:r>
            <a:endParaRPr lang="en-US" altLang="en-US" sz="2400">
              <a:latin typeface="Times New Roman" panose="02020603050405020304" charset="0"/>
              <a:cs typeface="Times New Roman" panose="02020603050405020304" charset="0"/>
              <a:sym typeface="+mn-ea"/>
            </a:endParaRPr>
          </a:p>
          <a:p>
            <a:pPr algn="just">
              <a:lnSpc>
                <a:spcPct val="150000"/>
              </a:lnSpc>
            </a:pPr>
            <a:endParaRPr lang="en-IN" altLang="en-US" sz="24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4000" b="1">
                <a:latin typeface="Times New Roman" panose="02020603050405020304" charset="0"/>
                <a:cs typeface="Times New Roman" panose="02020603050405020304" charset="0"/>
                <a:sym typeface="+mn-ea"/>
              </a:rPr>
              <a:t>Problem Statement: </a:t>
            </a:r>
            <a:endParaRPr lang="en-US" altLang="en-US" sz="4000" b="1">
              <a:latin typeface="Times New Roman" panose="02020603050405020304" charset="0"/>
              <a:cs typeface="Times New Roman" panose="02020603050405020304" charset="0"/>
              <a:sym typeface="+mn-ea"/>
            </a:endParaRPr>
          </a:p>
        </p:txBody>
      </p:sp>
      <p:sp>
        <p:nvSpPr>
          <p:cNvPr id="3" name="Content Placeholder 2"/>
          <p:cNvSpPr>
            <a:spLocks noGrp="1"/>
          </p:cNvSpPr>
          <p:nvPr>
            <p:ph idx="1"/>
          </p:nvPr>
        </p:nvSpPr>
        <p:spPr/>
        <p:txBody>
          <a:bodyPr>
            <a:normAutofit/>
          </a:bodyPr>
          <a:p>
            <a:pPr algn="just">
              <a:lnSpc>
                <a:spcPct val="150000"/>
              </a:lnSpc>
            </a:pPr>
            <a:r>
              <a:rPr lang="en-US" altLang="en-US" sz="2000">
                <a:latin typeface="Times New Roman" panose="02020603050405020304" charset="0"/>
                <a:cs typeface="Times New Roman" panose="02020603050405020304" charset="0"/>
              </a:rPr>
              <a:t>The Pharmaceutical Sales Insights Dashboard seeks to address the following key requirements: </a:t>
            </a:r>
            <a:endParaRPr lang="en-US" altLang="en-US" sz="2000">
              <a:latin typeface="Times New Roman" panose="02020603050405020304" charset="0"/>
              <a:cs typeface="Times New Roman" panose="02020603050405020304" charset="0"/>
            </a:endParaRPr>
          </a:p>
          <a:p>
            <a:pPr marL="0" indent="0" algn="just">
              <a:lnSpc>
                <a:spcPct val="150000"/>
              </a:lnSpc>
              <a:buNone/>
            </a:pPr>
            <a:r>
              <a:rPr lang="en-US" altLang="en-US" sz="2000" b="1">
                <a:latin typeface="Times New Roman" panose="02020603050405020304" charset="0"/>
                <a:cs typeface="Times New Roman" panose="02020603050405020304" charset="0"/>
              </a:rPr>
              <a:t>Sales Performance Analysis: </a:t>
            </a:r>
            <a:endParaRPr lang="en-US" altLang="en-US" sz="2000" b="1">
              <a:latin typeface="Times New Roman" panose="02020603050405020304" charset="0"/>
              <a:cs typeface="Times New Roman" panose="02020603050405020304" charset="0"/>
            </a:endParaRPr>
          </a:p>
          <a:p>
            <a:pPr algn="just">
              <a:lnSpc>
                <a:spcPct val="150000"/>
              </a:lnSpc>
            </a:pPr>
            <a:r>
              <a:rPr lang="en-US" altLang="en-US" sz="2000">
                <a:latin typeface="Times New Roman" panose="02020603050405020304" charset="0"/>
                <a:cs typeface="Times New Roman" panose="02020603050405020304" charset="0"/>
              </a:rPr>
              <a:t>Analyze sales data by tracking units sold, total revenue, and profitability (unit sales price vs. cost of production). </a:t>
            </a:r>
            <a:endParaRPr lang="en-US" altLang="en-US" sz="2000">
              <a:latin typeface="Times New Roman" panose="02020603050405020304" charset="0"/>
              <a:cs typeface="Times New Roman" panose="02020603050405020304" charset="0"/>
            </a:endParaRPr>
          </a:p>
          <a:p>
            <a:pPr algn="just">
              <a:lnSpc>
                <a:spcPct val="150000"/>
              </a:lnSpc>
            </a:pPr>
            <a:r>
              <a:rPr lang="en-US" altLang="en-US" sz="2000">
                <a:latin typeface="Times New Roman" panose="02020603050405020304" charset="0"/>
                <a:cs typeface="Times New Roman" panose="02020603050405020304" charset="0"/>
              </a:rPr>
              <a:t>Identify top-selling drugs and low-performing drugs based on sales volume and revenue. </a:t>
            </a:r>
            <a:endParaRPr lang="en-US" altLang="en-US" sz="2000">
              <a:latin typeface="Times New Roman" panose="02020603050405020304" charset="0"/>
              <a:cs typeface="Times New Roman" panose="02020603050405020304" charset="0"/>
            </a:endParaRPr>
          </a:p>
          <a:p>
            <a:pPr algn="just">
              <a:lnSpc>
                <a:spcPct val="150000"/>
              </a:lnSpc>
            </a:pPr>
            <a:r>
              <a:rPr lang="en-US" altLang="en-US" sz="2000">
                <a:latin typeface="Times New Roman" panose="02020603050405020304" charset="0"/>
                <a:cs typeface="Times New Roman" panose="02020603050405020304" charset="0"/>
              </a:rPr>
              <a:t>Evaluate sales trends over time to identify seasonal fluctuations, spikes, and downturns. </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494665"/>
            <a:ext cx="10429240" cy="5682615"/>
          </a:xfrm>
        </p:spPr>
        <p:txBody>
          <a:bodyPr>
            <a:noAutofit/>
          </a:bodyPr>
          <a:p>
            <a:pPr marL="0" indent="0" algn="just">
              <a:lnSpc>
                <a:spcPct val="150000"/>
              </a:lnSpc>
              <a:buNone/>
            </a:pPr>
            <a:r>
              <a:rPr lang="en-IN" altLang="en-US" sz="2000" b="1">
                <a:latin typeface="Times New Roman" panose="02020603050405020304" charset="0"/>
                <a:cs typeface="Times New Roman" panose="02020603050405020304" charset="0"/>
              </a:rPr>
              <a:t>2.</a:t>
            </a:r>
            <a:r>
              <a:rPr lang="en-US" altLang="en-US" sz="2000" b="1">
                <a:latin typeface="Times New Roman" panose="02020603050405020304" charset="0"/>
                <a:cs typeface="Times New Roman" panose="02020603050405020304" charset="0"/>
              </a:rPr>
              <a:t>Customer Demographics and Segmentation: </a:t>
            </a:r>
            <a:endParaRPr lang="en-US" altLang="en-US" sz="2000" b="1">
              <a:latin typeface="Times New Roman" panose="02020603050405020304" charset="0"/>
              <a:cs typeface="Times New Roman" panose="02020603050405020304" charset="0"/>
            </a:endParaRPr>
          </a:p>
          <a:p>
            <a:pPr algn="just">
              <a:lnSpc>
                <a:spcPct val="150000"/>
              </a:lnSpc>
            </a:pPr>
            <a:r>
              <a:rPr lang="en-US" altLang="en-US" sz="2000">
                <a:latin typeface="Times New Roman" panose="02020603050405020304" charset="0"/>
                <a:cs typeface="Times New Roman" panose="02020603050405020304" charset="0"/>
              </a:rPr>
              <a:t>Segment customers based on age, gender, and buyer type (individual, retailer, etc.) to understand purchasing behavior patterns. </a:t>
            </a:r>
            <a:endParaRPr lang="en-US" altLang="en-US" sz="2000">
              <a:latin typeface="Times New Roman" panose="02020603050405020304" charset="0"/>
              <a:cs typeface="Times New Roman" panose="02020603050405020304" charset="0"/>
            </a:endParaRPr>
          </a:p>
          <a:p>
            <a:pPr algn="just">
              <a:lnSpc>
                <a:spcPct val="150000"/>
              </a:lnSpc>
            </a:pPr>
            <a:r>
              <a:rPr lang="en-US" altLang="en-US" sz="2000">
                <a:latin typeface="Times New Roman" panose="02020603050405020304" charset="0"/>
                <a:cs typeface="Times New Roman" panose="02020603050405020304" charset="0"/>
              </a:rPr>
              <a:t>Analyze the average spend per customer segment and identify high-value customers. </a:t>
            </a:r>
            <a:endParaRPr lang="en-US" altLang="en-US" sz="2000">
              <a:latin typeface="Times New Roman" panose="02020603050405020304" charset="0"/>
              <a:cs typeface="Times New Roman" panose="02020603050405020304" charset="0"/>
            </a:endParaRPr>
          </a:p>
          <a:p>
            <a:pPr algn="just">
              <a:lnSpc>
                <a:spcPct val="150000"/>
              </a:lnSpc>
            </a:pPr>
            <a:r>
              <a:rPr lang="en-US" altLang="en-US" sz="2000">
                <a:latin typeface="Times New Roman" panose="02020603050405020304" charset="0"/>
                <a:cs typeface="Times New Roman" panose="02020603050405020304" charset="0"/>
              </a:rPr>
              <a:t>Evaluate the geographic distribution of customers to understand market penetration in various regions (based on country data). </a:t>
            </a:r>
            <a:endParaRPr lang="en-US" altLang="en-US" sz="2000">
              <a:latin typeface="Times New Roman" panose="02020603050405020304" charset="0"/>
              <a:cs typeface="Times New Roman" panose="02020603050405020304" charset="0"/>
            </a:endParaRPr>
          </a:p>
          <a:p>
            <a:pPr marL="0" indent="0" algn="just">
              <a:lnSpc>
                <a:spcPct val="150000"/>
              </a:lnSpc>
              <a:buNone/>
            </a:pPr>
            <a:r>
              <a:rPr lang="en-US" altLang="en-US" sz="2000" b="1">
                <a:latin typeface="Times New Roman" panose="02020603050405020304" charset="0"/>
                <a:cs typeface="Times New Roman" panose="02020603050405020304" charset="0"/>
              </a:rPr>
              <a:t>3. Regulatory Compliance and Drug Performance: </a:t>
            </a:r>
            <a:endParaRPr lang="en-US" altLang="en-US" sz="2000" b="1">
              <a:latin typeface="Times New Roman" panose="02020603050405020304" charset="0"/>
              <a:cs typeface="Times New Roman" panose="02020603050405020304" charset="0"/>
            </a:endParaRPr>
          </a:p>
          <a:p>
            <a:pPr algn="just">
              <a:lnSpc>
                <a:spcPct val="150000"/>
              </a:lnSpc>
            </a:pPr>
            <a:r>
              <a:rPr lang="en-US" altLang="en-US" sz="2000">
                <a:latin typeface="Times New Roman" panose="02020603050405020304" charset="0"/>
                <a:cs typeface="Times New Roman" panose="02020603050405020304" charset="0"/>
              </a:rPr>
              <a:t>Assess sales performance for each drug, taking into account regulatory compliance and drug performance over time. </a:t>
            </a:r>
            <a:endParaRPr lang="en-US" altLang="en-US" sz="2000">
              <a:latin typeface="Times New Roman" panose="02020603050405020304" charset="0"/>
              <a:cs typeface="Times New Roman" panose="02020603050405020304" charset="0"/>
            </a:endParaRPr>
          </a:p>
          <a:p>
            <a:pPr algn="just">
              <a:lnSpc>
                <a:spcPct val="150000"/>
              </a:lnSpc>
            </a:pPr>
            <a:r>
              <a:rPr lang="en-US" altLang="en-US" sz="2000">
                <a:latin typeface="Times New Roman" panose="02020603050405020304" charset="0"/>
                <a:cs typeface="Times New Roman" panose="02020603050405020304" charset="0"/>
              </a:rPr>
              <a:t>Track the relationship between compliance and sales trends for specific drugs. </a:t>
            </a:r>
            <a:endParaRPr lang="en-US" altLang="en-US" sz="2000">
              <a:latin typeface="Times New Roman" panose="02020603050405020304" charset="0"/>
              <a:cs typeface="Times New Roman" panose="02020603050405020304" charset="0"/>
            </a:endParaRPr>
          </a:p>
          <a:p>
            <a:pPr marL="0" indent="0" algn="just">
              <a:lnSpc>
                <a:spcPct val="150000"/>
              </a:lnSpc>
              <a:buNone/>
            </a:pPr>
            <a:r>
              <a:rPr lang="en-US" altLang="en-US" sz="2000">
                <a:latin typeface="Times New Roman" panose="02020603050405020304" charset="0"/>
                <a:cs typeface="Times New Roman" panose="02020603050405020304" charset="0"/>
              </a:rPr>
              <a:t> </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65480" y="475615"/>
            <a:ext cx="10688320" cy="5701665"/>
          </a:xfrm>
        </p:spPr>
        <p:txBody>
          <a:bodyPr>
            <a:normAutofit/>
          </a:bodyPr>
          <a:p>
            <a:pPr marL="0" indent="0" algn="just">
              <a:lnSpc>
                <a:spcPct val="150000"/>
              </a:lnSpc>
              <a:buNone/>
            </a:pPr>
            <a:r>
              <a:rPr lang="en-US" altLang="en-US" sz="2000" b="1">
                <a:latin typeface="Times New Roman" panose="02020603050405020304" charset="0"/>
                <a:cs typeface="Times New Roman" panose="02020603050405020304" charset="0"/>
                <a:sym typeface="+mn-ea"/>
              </a:rPr>
              <a:t>4. Profitability and Cost Analysis: </a:t>
            </a:r>
            <a:endParaRPr lang="en-US" altLang="en-US" sz="2000" b="1">
              <a:latin typeface="Times New Roman" panose="02020603050405020304" charset="0"/>
              <a:cs typeface="Times New Roman" panose="02020603050405020304" charset="0"/>
            </a:endParaRPr>
          </a:p>
          <a:p>
            <a:pPr algn="just">
              <a:lnSpc>
                <a:spcPct val="150000"/>
              </a:lnSpc>
            </a:pPr>
            <a:r>
              <a:rPr lang="en-US" altLang="en-US" sz="2000">
                <a:latin typeface="Times New Roman" panose="02020603050405020304" charset="0"/>
                <a:cs typeface="Times New Roman" panose="02020603050405020304" charset="0"/>
                <a:sym typeface="+mn-ea"/>
              </a:rPr>
              <a:t>Analyze the cost of production for each drug and compare it with the unit sales price to calculate profitability.</a:t>
            </a:r>
            <a:endParaRPr lang="en-US" altLang="en-US" sz="2000">
              <a:latin typeface="Times New Roman" panose="02020603050405020304" charset="0"/>
              <a:cs typeface="Times New Roman" panose="02020603050405020304" charset="0"/>
            </a:endParaRPr>
          </a:p>
          <a:p>
            <a:pPr algn="just">
              <a:lnSpc>
                <a:spcPct val="150000"/>
              </a:lnSpc>
            </a:pPr>
            <a:r>
              <a:rPr lang="en-US" altLang="en-US" sz="2000">
                <a:latin typeface="Times New Roman" panose="02020603050405020304" charset="0"/>
                <a:cs typeface="Times New Roman" panose="02020603050405020304" charset="0"/>
                <a:sym typeface="+mn-ea"/>
              </a:rPr>
              <a:t>Identify drugs with the highest profit margins and those that are under performing based on production costs and sales prices. </a:t>
            </a:r>
            <a:endParaRPr lang="en-US" altLang="en-US" sz="2000">
              <a:latin typeface="Times New Roman" panose="02020603050405020304" charset="0"/>
              <a:cs typeface="Times New Roman" panose="02020603050405020304" charset="0"/>
            </a:endParaRPr>
          </a:p>
          <a:p>
            <a:pPr marL="0" indent="0" algn="just">
              <a:lnSpc>
                <a:spcPct val="150000"/>
              </a:lnSpc>
              <a:buNone/>
            </a:pPr>
            <a:r>
              <a:rPr lang="en-US" altLang="en-US" sz="2000" b="1">
                <a:latin typeface="Times New Roman" panose="02020603050405020304" charset="0"/>
                <a:cs typeface="Times New Roman" panose="02020603050405020304" charset="0"/>
                <a:sym typeface="+mn-ea"/>
              </a:rPr>
              <a:t>5. Trend Analysis by Date: </a:t>
            </a:r>
            <a:endParaRPr lang="en-US" altLang="en-US" sz="2000" b="1">
              <a:latin typeface="Times New Roman" panose="02020603050405020304" charset="0"/>
              <a:cs typeface="Times New Roman" panose="02020603050405020304" charset="0"/>
            </a:endParaRPr>
          </a:p>
          <a:p>
            <a:pPr algn="just">
              <a:lnSpc>
                <a:spcPct val="150000"/>
              </a:lnSpc>
            </a:pPr>
            <a:r>
              <a:rPr lang="en-US" altLang="en-US" sz="2000">
                <a:latin typeface="Times New Roman" panose="02020603050405020304" charset="0"/>
                <a:cs typeface="Times New Roman" panose="02020603050405020304" charset="0"/>
                <a:sym typeface="+mn-ea"/>
              </a:rPr>
              <a:t>Track sales data over different time periods to understand how sales are evolving. </a:t>
            </a:r>
            <a:endParaRPr lang="en-US" altLang="en-US" sz="2000">
              <a:latin typeface="Times New Roman" panose="02020603050405020304" charset="0"/>
              <a:cs typeface="Times New Roman" panose="02020603050405020304" charset="0"/>
            </a:endParaRPr>
          </a:p>
          <a:p>
            <a:pPr algn="just">
              <a:lnSpc>
                <a:spcPct val="150000"/>
              </a:lnSpc>
            </a:pPr>
            <a:r>
              <a:rPr lang="en-US" altLang="en-US" sz="2000">
                <a:latin typeface="Times New Roman" panose="02020603050405020304" charset="0"/>
                <a:cs typeface="Times New Roman" panose="02020603050405020304" charset="0"/>
                <a:sym typeface="+mn-ea"/>
              </a:rPr>
              <a:t>Visualize trends in drug sales over specific months or years, and detect patterns that can inform inventory and pricing decisions.</a:t>
            </a:r>
            <a:endParaRPr lang="en-US" altLang="en-US" sz="2000">
              <a:latin typeface="Times New Roman" panose="02020603050405020304" charset="0"/>
              <a:cs typeface="Times New Roman" panose="02020603050405020304" charset="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3600" b="1">
                <a:latin typeface="Times New Roman" panose="02020603050405020304" charset="0"/>
                <a:cs typeface="Times New Roman" panose="02020603050405020304" charset="0"/>
                <a:sym typeface="+mn-ea"/>
              </a:rPr>
              <a:t>Architecture Diagram</a:t>
            </a:r>
            <a:endParaRPr lang="en-US" sz="3600" b="1">
              <a:latin typeface="Times New Roman" panose="02020603050405020304" charset="0"/>
              <a:cs typeface="Times New Roman" panose="02020603050405020304" charset="0"/>
            </a:endParaRPr>
          </a:p>
        </p:txBody>
      </p:sp>
      <p:sp>
        <p:nvSpPr>
          <p:cNvPr id="32" name="任意多边形: 形状 17"/>
          <p:cNvSpPr/>
          <p:nvPr>
            <p:custDataLst>
              <p:tags r:id="rId1"/>
            </p:custDataLst>
          </p:nvPr>
        </p:nvSpPr>
        <p:spPr bwMode="auto">
          <a:xfrm>
            <a:off x="2239188" y="1993232"/>
            <a:ext cx="5167423" cy="4326923"/>
          </a:xfrm>
          <a:custGeom>
            <a:avLst/>
            <a:gdLst>
              <a:gd name="connsiteX0" fmla="*/ 3662729 w 6039436"/>
              <a:gd name="connsiteY0" fmla="*/ -330 h 4892865"/>
              <a:gd name="connsiteX1" fmla="*/ 3108936 w 6039436"/>
              <a:gd name="connsiteY1" fmla="*/ 737380 h 4892865"/>
              <a:gd name="connsiteX2" fmla="*/ -133 w 6039436"/>
              <a:gd name="connsiteY2" fmla="*/ 4892535 h 4892865"/>
              <a:gd name="connsiteX3" fmla="*/ 4928640 w 6039436"/>
              <a:gd name="connsiteY3" fmla="*/ 4892535 h 4892865"/>
              <a:gd name="connsiteX4" fmla="*/ 3700291 w 6039436"/>
              <a:gd name="connsiteY4" fmla="*/ 513566 h 4892865"/>
              <a:gd name="connsiteX5" fmla="*/ 3662729 w 6039436"/>
              <a:gd name="connsiteY5" fmla="*/ -330 h 4892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9436" h="4892865">
                <a:moveTo>
                  <a:pt x="3662729" y="-330"/>
                </a:moveTo>
                <a:cubicBezTo>
                  <a:pt x="3662729" y="-330"/>
                  <a:pt x="1464389" y="136196"/>
                  <a:pt x="3108936" y="737380"/>
                </a:cubicBezTo>
                <a:cubicBezTo>
                  <a:pt x="4753482" y="1338564"/>
                  <a:pt x="4325316" y="2070533"/>
                  <a:pt x="-133" y="4892535"/>
                </a:cubicBezTo>
                <a:lnTo>
                  <a:pt x="4928640" y="4892535"/>
                </a:lnTo>
                <a:cubicBezTo>
                  <a:pt x="4928640" y="4892535"/>
                  <a:pt x="8111859" y="1348198"/>
                  <a:pt x="3700291" y="513566"/>
                </a:cubicBezTo>
                <a:cubicBezTo>
                  <a:pt x="3573885" y="489239"/>
                  <a:pt x="2213680" y="304349"/>
                  <a:pt x="3662729" y="-330"/>
                </a:cubicBezTo>
                <a:close/>
              </a:path>
            </a:pathLst>
          </a:custGeom>
          <a:solidFill>
            <a:srgbClr val="F5FF4B"/>
          </a:solidFill>
          <a:ln w="9724" cap="flat">
            <a:noFill/>
            <a:prstDash val="solid"/>
            <a:miter/>
          </a:ln>
        </p:spPr>
        <p:txBody>
          <a:bodyPr vert="horz" wrap="square" lIns="91440" tIns="45720" rIns="91440" bIns="45720" numCol="1" spcCol="0" rtlCol="0" fromWordArt="0" anchor="ctr" anchorCtr="0" forceAA="0" compatLnSpc="0">
            <a:noAutofit/>
          </a:bodyPr>
          <a:lstStyle/>
          <a:p>
            <a:pPr lvl="0" algn="l">
              <a:buClrTx/>
              <a:buSzTx/>
              <a:buFontTx/>
            </a:pPr>
            <a:endParaRPr lang="en-US">
              <a:latin typeface="Arial" panose="020B0604020202020204" pitchFamily="34" charset="0"/>
              <a:sym typeface="+mn-lt"/>
            </a:endParaRPr>
          </a:p>
        </p:txBody>
      </p:sp>
      <p:sp>
        <p:nvSpPr>
          <p:cNvPr id="33" name="矩形 11"/>
          <p:cNvSpPr/>
          <p:nvPr>
            <p:custDataLst>
              <p:tags r:id="rId2"/>
            </p:custDataLst>
          </p:nvPr>
        </p:nvSpPr>
        <p:spPr>
          <a:xfrm>
            <a:off x="1602429" y="1865011"/>
            <a:ext cx="2200407" cy="3759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r"/>
            <a:r>
              <a:rPr lang="en-IN" altLang="en-US" sz="2000" b="1" kern="0" dirty="0">
                <a:solidFill>
                  <a:schemeClr val="tx1">
                    <a:lumMod val="85000"/>
                    <a:lumOff val="15000"/>
                  </a:schemeClr>
                </a:solidFill>
                <a:latin typeface="Times New Roman" panose="02020603050405020304" charset="0"/>
                <a:cs typeface="Times New Roman" panose="02020603050405020304" charset="0"/>
                <a:sym typeface="Arial" panose="020B0604020202020204" pitchFamily="34" charset="0"/>
              </a:rPr>
              <a:t>Source</a:t>
            </a:r>
            <a:endParaRPr lang="en-IN" altLang="en-US" sz="2000" b="1" kern="0" dirty="0">
              <a:solidFill>
                <a:schemeClr val="tx1">
                  <a:lumMod val="85000"/>
                  <a:lumOff val="15000"/>
                </a:schemeClr>
              </a:solidFill>
              <a:latin typeface="Times New Roman" panose="02020603050405020304" charset="0"/>
              <a:cs typeface="Times New Roman" panose="02020603050405020304" charset="0"/>
              <a:sym typeface="Arial" panose="020B0604020202020204" pitchFamily="34" charset="0"/>
            </a:endParaRPr>
          </a:p>
        </p:txBody>
      </p:sp>
      <p:sp>
        <p:nvSpPr>
          <p:cNvPr id="34" name="矩形 12"/>
          <p:cNvSpPr/>
          <p:nvPr>
            <p:custDataLst>
              <p:tags r:id="rId3"/>
            </p:custDataLst>
          </p:nvPr>
        </p:nvSpPr>
        <p:spPr>
          <a:xfrm>
            <a:off x="1602429" y="2276297"/>
            <a:ext cx="2200407" cy="43953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r"/>
            <a:r>
              <a:rPr lang="en-IN" altLang="en-US" sz="1400" kern="0" dirty="0">
                <a:solidFill>
                  <a:schemeClr val="tx1">
                    <a:lumMod val="85000"/>
                    <a:lumOff val="15000"/>
                  </a:schemeClr>
                </a:solidFill>
                <a:latin typeface="Times New Roman" panose="02020603050405020304" charset="0"/>
                <a:cs typeface="Times New Roman" panose="02020603050405020304" charset="0"/>
                <a:sym typeface="+mn-ea"/>
              </a:rPr>
              <a:t>Excel/SQL/CSV</a:t>
            </a:r>
            <a:endParaRPr lang="en-IN" altLang="en-US" sz="1400" kern="0" dirty="0">
              <a:solidFill>
                <a:schemeClr val="tx1">
                  <a:lumMod val="85000"/>
                  <a:lumOff val="15000"/>
                </a:schemeClr>
              </a:solidFill>
              <a:latin typeface="Times New Roman" panose="02020603050405020304" charset="0"/>
              <a:cs typeface="Times New Roman" panose="02020603050405020304" charset="0"/>
              <a:sym typeface="+mn-ea"/>
            </a:endParaRPr>
          </a:p>
        </p:txBody>
      </p:sp>
      <p:sp>
        <p:nvSpPr>
          <p:cNvPr id="40" name="矩形 3"/>
          <p:cNvSpPr/>
          <p:nvPr>
            <p:custDataLst>
              <p:tags r:id="rId4"/>
            </p:custDataLst>
          </p:nvPr>
        </p:nvSpPr>
        <p:spPr>
          <a:xfrm>
            <a:off x="2468132" y="3006908"/>
            <a:ext cx="2235327" cy="5757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r"/>
            <a:r>
              <a:rPr lang="en-IN" altLang="en-US" sz="2000" b="1" kern="0" dirty="0">
                <a:solidFill>
                  <a:schemeClr val="tx1">
                    <a:lumMod val="85000"/>
                    <a:lumOff val="15000"/>
                  </a:schemeClr>
                </a:solidFill>
                <a:latin typeface="Times New Roman" panose="02020603050405020304" charset="0"/>
                <a:cs typeface="Times New Roman" panose="02020603050405020304" charset="0"/>
                <a:sym typeface="Arial" panose="020B0604020202020204" pitchFamily="34" charset="0"/>
              </a:rPr>
              <a:t>Data Model</a:t>
            </a:r>
            <a:endParaRPr lang="en-IN" altLang="en-US" sz="1200" b="1" kern="0" dirty="0">
              <a:solidFill>
                <a:schemeClr val="tx1">
                  <a:lumMod val="85000"/>
                  <a:lumOff val="15000"/>
                </a:schemeClr>
              </a:solidFill>
              <a:latin typeface="+mj-lt"/>
              <a:sym typeface="Arial" panose="020B0604020202020204" pitchFamily="34" charset="0"/>
            </a:endParaRPr>
          </a:p>
        </p:txBody>
      </p:sp>
      <p:sp>
        <p:nvSpPr>
          <p:cNvPr id="41" name="矩形 4"/>
          <p:cNvSpPr/>
          <p:nvPr>
            <p:custDataLst>
              <p:tags r:id="rId5"/>
            </p:custDataLst>
          </p:nvPr>
        </p:nvSpPr>
        <p:spPr>
          <a:xfrm>
            <a:off x="2680899" y="3618274"/>
            <a:ext cx="2200407" cy="43953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rmAutofit/>
          </a:bodyPr>
          <a:lstStyle/>
          <a:p>
            <a:pPr algn="r"/>
            <a:r>
              <a:rPr lang="en-IN" altLang="en-US" kern="0" dirty="0">
                <a:solidFill>
                  <a:schemeClr val="tx1">
                    <a:lumMod val="85000"/>
                    <a:lumOff val="15000"/>
                  </a:schemeClr>
                </a:solidFill>
                <a:latin typeface="Times New Roman" panose="02020603050405020304" charset="0"/>
                <a:cs typeface="Times New Roman" panose="02020603050405020304" charset="0"/>
                <a:sym typeface="+mn-ea"/>
              </a:rPr>
              <a:t>Realationships</a:t>
            </a:r>
            <a:endParaRPr lang="en-IN" altLang="en-US" kern="0" dirty="0">
              <a:solidFill>
                <a:schemeClr val="tx1">
                  <a:lumMod val="85000"/>
                  <a:lumOff val="15000"/>
                </a:schemeClr>
              </a:solidFill>
              <a:latin typeface="Times New Roman" panose="02020603050405020304" charset="0"/>
              <a:cs typeface="Times New Roman" panose="02020603050405020304" charset="0"/>
              <a:sym typeface="+mn-ea"/>
            </a:endParaRPr>
          </a:p>
        </p:txBody>
      </p:sp>
      <p:sp>
        <p:nvSpPr>
          <p:cNvPr id="42" name="矩形 5"/>
          <p:cNvSpPr/>
          <p:nvPr>
            <p:custDataLst>
              <p:tags r:id="rId6"/>
            </p:custDataLst>
          </p:nvPr>
        </p:nvSpPr>
        <p:spPr>
          <a:xfrm>
            <a:off x="958850" y="4348492"/>
            <a:ext cx="2678321" cy="5593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r>
              <a:rPr lang="en-IN" altLang="en-US" sz="2000" b="1" kern="0" dirty="0">
                <a:solidFill>
                  <a:schemeClr val="tx1">
                    <a:lumMod val="85000"/>
                    <a:lumOff val="15000"/>
                  </a:schemeClr>
                </a:solidFill>
                <a:latin typeface="Times New Roman" panose="02020603050405020304" charset="0"/>
                <a:cs typeface="Times New Roman" panose="02020603050405020304" charset="0"/>
                <a:sym typeface="Arial" panose="020B0604020202020204" pitchFamily="34" charset="0"/>
              </a:rPr>
              <a:t>Report Pages</a:t>
            </a:r>
            <a:endParaRPr lang="en-IN" altLang="en-US" sz="2000" b="1" kern="0" dirty="0">
              <a:solidFill>
                <a:schemeClr val="tx1">
                  <a:lumMod val="85000"/>
                  <a:lumOff val="15000"/>
                </a:schemeClr>
              </a:solidFill>
              <a:latin typeface="Times New Roman" panose="02020603050405020304" charset="0"/>
              <a:cs typeface="Times New Roman" panose="02020603050405020304" charset="0"/>
              <a:sym typeface="Arial" panose="020B0604020202020204" pitchFamily="34" charset="0"/>
            </a:endParaRPr>
          </a:p>
        </p:txBody>
      </p:sp>
      <p:sp>
        <p:nvSpPr>
          <p:cNvPr id="43" name="矩形 6"/>
          <p:cNvSpPr/>
          <p:nvPr>
            <p:custDataLst>
              <p:tags r:id="rId7"/>
            </p:custDataLst>
          </p:nvPr>
        </p:nvSpPr>
        <p:spPr>
          <a:xfrm>
            <a:off x="1277767" y="4960153"/>
            <a:ext cx="2200430" cy="5098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rmAutofit/>
          </a:bodyPr>
          <a:lstStyle/>
          <a:p>
            <a:pPr algn="r"/>
            <a:r>
              <a:rPr lang="en-IN" altLang="en-US" kern="0" dirty="0">
                <a:solidFill>
                  <a:schemeClr val="tx1">
                    <a:lumMod val="85000"/>
                    <a:lumOff val="15000"/>
                  </a:schemeClr>
                </a:solidFill>
                <a:latin typeface="Times New Roman" panose="02020603050405020304" charset="0"/>
                <a:cs typeface="Times New Roman" panose="02020603050405020304" charset="0"/>
                <a:sym typeface="+mn-ea"/>
              </a:rPr>
              <a:t>Visuals</a:t>
            </a:r>
            <a:endParaRPr lang="en-IN" altLang="en-US" kern="0" dirty="0">
              <a:solidFill>
                <a:schemeClr val="tx1">
                  <a:lumMod val="85000"/>
                  <a:lumOff val="15000"/>
                </a:schemeClr>
              </a:solidFill>
              <a:latin typeface="Times New Roman" panose="02020603050405020304" charset="0"/>
              <a:cs typeface="Times New Roman" panose="02020603050405020304" charset="0"/>
              <a:sym typeface="+mn-ea"/>
            </a:endParaRPr>
          </a:p>
        </p:txBody>
      </p:sp>
      <p:sp>
        <p:nvSpPr>
          <p:cNvPr id="44" name="矩形 10"/>
          <p:cNvSpPr/>
          <p:nvPr>
            <p:custDataLst>
              <p:tags r:id="rId8"/>
            </p:custDataLst>
          </p:nvPr>
        </p:nvSpPr>
        <p:spPr>
          <a:xfrm>
            <a:off x="8004105" y="3389802"/>
            <a:ext cx="2761685" cy="56028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l"/>
            <a:r>
              <a:rPr lang="en-IN" altLang="en-US" sz="2000" b="1" kern="0" dirty="0">
                <a:solidFill>
                  <a:schemeClr val="tx1">
                    <a:lumMod val="85000"/>
                    <a:lumOff val="15000"/>
                  </a:schemeClr>
                </a:solidFill>
                <a:latin typeface="Times New Roman" panose="02020603050405020304" charset="0"/>
                <a:cs typeface="Times New Roman" panose="02020603050405020304" charset="0"/>
                <a:sym typeface="Arial" panose="020B0604020202020204" pitchFamily="34" charset="0"/>
              </a:rPr>
              <a:t>DAX Measure</a:t>
            </a:r>
            <a:endParaRPr lang="en-IN" altLang="en-US" sz="2000" b="1" kern="0" dirty="0">
              <a:solidFill>
                <a:schemeClr val="tx1">
                  <a:lumMod val="85000"/>
                  <a:lumOff val="15000"/>
                </a:schemeClr>
              </a:solidFill>
              <a:latin typeface="Times New Roman" panose="02020603050405020304" charset="0"/>
              <a:cs typeface="Times New Roman" panose="02020603050405020304" charset="0"/>
              <a:sym typeface="Arial" panose="020B0604020202020204" pitchFamily="34" charset="0"/>
            </a:endParaRPr>
          </a:p>
        </p:txBody>
      </p:sp>
      <p:sp>
        <p:nvSpPr>
          <p:cNvPr id="45" name="矩形 13"/>
          <p:cNvSpPr/>
          <p:nvPr>
            <p:custDataLst>
              <p:tags r:id="rId9"/>
            </p:custDataLst>
          </p:nvPr>
        </p:nvSpPr>
        <p:spPr>
          <a:xfrm>
            <a:off x="8003710" y="3985552"/>
            <a:ext cx="2200407" cy="43953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rmAutofit/>
          </a:bodyPr>
          <a:lstStyle/>
          <a:p>
            <a:pPr algn="l"/>
            <a:r>
              <a:rPr lang="en-IN" altLang="en-US" kern="0" dirty="0">
                <a:solidFill>
                  <a:schemeClr val="tx1">
                    <a:lumMod val="85000"/>
                    <a:lumOff val="15000"/>
                  </a:schemeClr>
                </a:solidFill>
                <a:latin typeface="Times New Roman" panose="02020603050405020304" charset="0"/>
                <a:cs typeface="Times New Roman" panose="02020603050405020304" charset="0"/>
                <a:sym typeface="+mn-ea"/>
              </a:rPr>
              <a:t>KPI Logic</a:t>
            </a:r>
            <a:endParaRPr lang="en-IN" altLang="en-US" kern="0" dirty="0">
              <a:solidFill>
                <a:schemeClr val="tx1">
                  <a:lumMod val="85000"/>
                  <a:lumOff val="15000"/>
                </a:schemeClr>
              </a:solidFill>
              <a:latin typeface="Times New Roman" panose="02020603050405020304" charset="0"/>
              <a:cs typeface="Times New Roman" panose="02020603050405020304" charset="0"/>
              <a:sym typeface="+mn-ea"/>
            </a:endParaRPr>
          </a:p>
        </p:txBody>
      </p:sp>
      <p:sp>
        <p:nvSpPr>
          <p:cNvPr id="50" name="矩形 14"/>
          <p:cNvSpPr/>
          <p:nvPr>
            <p:custDataLst>
              <p:tags r:id="rId10"/>
            </p:custDataLst>
          </p:nvPr>
        </p:nvSpPr>
        <p:spPr>
          <a:xfrm>
            <a:off x="7825744" y="4702306"/>
            <a:ext cx="2759747" cy="7677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r>
              <a:rPr lang="en-IN" altLang="en-US" sz="1900" b="1" kern="0" dirty="0">
                <a:solidFill>
                  <a:schemeClr val="tx1">
                    <a:lumMod val="85000"/>
                    <a:lumOff val="15000"/>
                  </a:schemeClr>
                </a:solidFill>
                <a:latin typeface="Times New Roman" panose="02020603050405020304" charset="0"/>
                <a:cs typeface="Times New Roman" panose="02020603050405020304" charset="0"/>
                <a:sym typeface="Arial" panose="020B0604020202020204" pitchFamily="34" charset="0"/>
              </a:rPr>
              <a:t>Power BI Service</a:t>
            </a:r>
            <a:endParaRPr lang="en-IN" altLang="en-US" sz="1900" b="1" kern="0" dirty="0">
              <a:solidFill>
                <a:schemeClr val="tx1">
                  <a:lumMod val="85000"/>
                  <a:lumOff val="15000"/>
                </a:schemeClr>
              </a:solidFill>
              <a:latin typeface="Times New Roman" panose="02020603050405020304" charset="0"/>
              <a:cs typeface="Times New Roman" panose="02020603050405020304" charset="0"/>
              <a:sym typeface="Arial" panose="020B0604020202020204" pitchFamily="34" charset="0"/>
            </a:endParaRPr>
          </a:p>
        </p:txBody>
      </p:sp>
      <p:sp>
        <p:nvSpPr>
          <p:cNvPr id="51" name="矩形 15"/>
          <p:cNvSpPr/>
          <p:nvPr>
            <p:custDataLst>
              <p:tags r:id="rId11"/>
            </p:custDataLst>
          </p:nvPr>
        </p:nvSpPr>
        <p:spPr>
          <a:xfrm>
            <a:off x="7826047" y="5298187"/>
            <a:ext cx="2200407" cy="43953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rmAutofit/>
          </a:bodyPr>
          <a:lstStyle/>
          <a:p>
            <a:pPr algn="l"/>
            <a:r>
              <a:rPr lang="en-IN" altLang="en-US" kern="0" dirty="0">
                <a:solidFill>
                  <a:schemeClr val="tx1">
                    <a:lumMod val="85000"/>
                    <a:lumOff val="15000"/>
                  </a:schemeClr>
                </a:solidFill>
                <a:latin typeface="Times New Roman" panose="02020603050405020304" charset="0"/>
                <a:cs typeface="Times New Roman" panose="02020603050405020304" charset="0"/>
                <a:sym typeface="+mn-ea"/>
              </a:rPr>
              <a:t>Publish</a:t>
            </a:r>
            <a:endParaRPr lang="en-IN" altLang="en-US" kern="0" dirty="0">
              <a:solidFill>
                <a:schemeClr val="tx1">
                  <a:lumMod val="85000"/>
                  <a:lumOff val="15000"/>
                </a:schemeClr>
              </a:solidFill>
              <a:latin typeface="Times New Roman" panose="02020603050405020304" charset="0"/>
              <a:cs typeface="Times New Roman" panose="02020603050405020304" charset="0"/>
              <a:sym typeface="+mn-ea"/>
            </a:endParaRPr>
          </a:p>
        </p:txBody>
      </p:sp>
      <p:sp>
        <p:nvSpPr>
          <p:cNvPr id="53" name="图形 10"/>
          <p:cNvSpPr/>
          <p:nvPr>
            <p:custDataLst>
              <p:tags r:id="rId12"/>
            </p:custDataLst>
          </p:nvPr>
        </p:nvSpPr>
        <p:spPr>
          <a:xfrm>
            <a:off x="4539564" y="1993232"/>
            <a:ext cx="1942878" cy="4326923"/>
          </a:xfrm>
          <a:custGeom>
            <a:avLst/>
            <a:gdLst>
              <a:gd name="connsiteX0" fmla="*/ 923551 w 2270929"/>
              <a:gd name="connsiteY0" fmla="*/ -266 h 4781550"/>
              <a:gd name="connsiteX1" fmla="*/ 399676 w 2270929"/>
              <a:gd name="connsiteY1" fmla="*/ 495034 h 4781550"/>
              <a:gd name="connsiteX2" fmla="*/ 2047501 w 2270929"/>
              <a:gd name="connsiteY2" fmla="*/ 2371459 h 4781550"/>
              <a:gd name="connsiteX3" fmla="*/ -374 w 2270929"/>
              <a:gd name="connsiteY3" fmla="*/ 4781284 h 4781550"/>
              <a:gd name="connsiteX4" fmla="*/ 275851 w 2270929"/>
              <a:gd name="connsiteY4" fmla="*/ 4781284 h 4781550"/>
              <a:gd name="connsiteX5" fmla="*/ 2190376 w 2270929"/>
              <a:gd name="connsiteY5" fmla="*/ 2266684 h 4781550"/>
              <a:gd name="connsiteX6" fmla="*/ 1209301 w 2270929"/>
              <a:gd name="connsiteY6" fmla="*/ 752209 h 4781550"/>
              <a:gd name="connsiteX7" fmla="*/ 142501 w 2270929"/>
              <a:gd name="connsiteY7" fmla="*/ 323584 h 4781550"/>
              <a:gd name="connsiteX8" fmla="*/ 923551 w 2270929"/>
              <a:gd name="connsiteY8" fmla="*/ -266 h 4781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70929" h="4781550">
                <a:moveTo>
                  <a:pt x="923551" y="-266"/>
                </a:moveTo>
                <a:cubicBezTo>
                  <a:pt x="923551" y="-266"/>
                  <a:pt x="-438524" y="209284"/>
                  <a:pt x="399676" y="495034"/>
                </a:cubicBezTo>
                <a:cubicBezTo>
                  <a:pt x="1237876" y="780784"/>
                  <a:pt x="2666626" y="1161784"/>
                  <a:pt x="2047501" y="2371459"/>
                </a:cubicBezTo>
                <a:cubicBezTo>
                  <a:pt x="1428376" y="3581134"/>
                  <a:pt x="-374" y="4781284"/>
                  <a:pt x="-374" y="4781284"/>
                </a:cubicBezTo>
                <a:lnTo>
                  <a:pt x="275851" y="4781284"/>
                </a:lnTo>
                <a:cubicBezTo>
                  <a:pt x="275851" y="4781284"/>
                  <a:pt x="1815472" y="3329008"/>
                  <a:pt x="2190376" y="2266684"/>
                </a:cubicBezTo>
                <a:cubicBezTo>
                  <a:pt x="2533276" y="1295134"/>
                  <a:pt x="1695076" y="961759"/>
                  <a:pt x="1209301" y="752209"/>
                </a:cubicBezTo>
                <a:cubicBezTo>
                  <a:pt x="780676" y="567233"/>
                  <a:pt x="178982" y="451124"/>
                  <a:pt x="142501" y="323584"/>
                </a:cubicBezTo>
                <a:cubicBezTo>
                  <a:pt x="123451" y="256909"/>
                  <a:pt x="161551" y="142609"/>
                  <a:pt x="923551" y="-266"/>
                </a:cubicBezTo>
                <a:close/>
              </a:path>
            </a:pathLst>
          </a:custGeom>
          <a:gradFill>
            <a:gsLst>
              <a:gs pos="32000">
                <a:schemeClr val="bg1">
                  <a:lumMod val="95000"/>
                </a:schemeClr>
              </a:gs>
              <a:gs pos="0">
                <a:schemeClr val="bg1">
                  <a:lumMod val="90000"/>
                </a:schemeClr>
              </a:gs>
              <a:gs pos="100000">
                <a:schemeClr val="bg1"/>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a:lstStyle>
          <a:p>
            <a:endParaRPr lang="en-US">
              <a:latin typeface="Arial" panose="020B0604020202020204" pitchFamily="34" charset="0"/>
              <a:sym typeface="Arial" panose="020B0604020202020204" pitchFamily="34" charset="0"/>
            </a:endParaRPr>
          </a:p>
        </p:txBody>
      </p:sp>
      <p:sp>
        <p:nvSpPr>
          <p:cNvPr id="55" name="矩形 8"/>
          <p:cNvSpPr/>
          <p:nvPr>
            <p:custDataLst>
              <p:tags r:id="rId13"/>
            </p:custDataLst>
          </p:nvPr>
        </p:nvSpPr>
        <p:spPr>
          <a:xfrm>
            <a:off x="6820525" y="1998781"/>
            <a:ext cx="2326446" cy="63880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l"/>
            <a:r>
              <a:rPr lang="en-IN" altLang="en-US" sz="2000" b="1" kern="0" dirty="0">
                <a:solidFill>
                  <a:schemeClr val="tx1">
                    <a:lumMod val="85000"/>
                    <a:lumOff val="15000"/>
                  </a:schemeClr>
                </a:solidFill>
                <a:latin typeface="Times New Roman" panose="02020603050405020304" charset="0"/>
                <a:cs typeface="Times New Roman" panose="02020603050405020304" charset="0"/>
                <a:sym typeface="Arial" panose="020B0604020202020204" pitchFamily="34" charset="0"/>
              </a:rPr>
              <a:t>Power Query </a:t>
            </a:r>
            <a:endParaRPr lang="en-IN" altLang="en-US" sz="2000" b="1" kern="0" dirty="0">
              <a:solidFill>
                <a:schemeClr val="tx1">
                  <a:lumMod val="85000"/>
                  <a:lumOff val="15000"/>
                </a:schemeClr>
              </a:solidFill>
              <a:latin typeface="Times New Roman" panose="02020603050405020304" charset="0"/>
              <a:cs typeface="Times New Roman" panose="02020603050405020304" charset="0"/>
              <a:sym typeface="Arial" panose="020B0604020202020204" pitchFamily="34" charset="0"/>
            </a:endParaRPr>
          </a:p>
        </p:txBody>
      </p:sp>
      <p:sp>
        <p:nvSpPr>
          <p:cNvPr id="57" name="矩形 9"/>
          <p:cNvSpPr/>
          <p:nvPr>
            <p:custDataLst>
              <p:tags r:id="rId14"/>
            </p:custDataLst>
          </p:nvPr>
        </p:nvSpPr>
        <p:spPr>
          <a:xfrm>
            <a:off x="6946541" y="2672481"/>
            <a:ext cx="3380132" cy="3344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rmAutofit/>
          </a:bodyPr>
          <a:lstStyle/>
          <a:p>
            <a:pPr algn="l"/>
            <a:r>
              <a:rPr lang="en-IN" altLang="en-US" kern="0" dirty="0">
                <a:solidFill>
                  <a:schemeClr val="tx1">
                    <a:lumMod val="85000"/>
                    <a:lumOff val="15000"/>
                  </a:schemeClr>
                </a:solidFill>
                <a:sym typeface="+mn-ea"/>
              </a:rPr>
              <a:t>Cleaning,Merge,Transformation</a:t>
            </a:r>
            <a:endParaRPr lang="en-IN" altLang="en-US" kern="0" dirty="0">
              <a:solidFill>
                <a:schemeClr val="tx1">
                  <a:lumMod val="85000"/>
                  <a:lumOff val="15000"/>
                </a:schemeClr>
              </a:solidFill>
              <a:sym typeface="+mn-ea"/>
            </a:endParaRPr>
          </a:p>
        </p:txBody>
      </p:sp>
      <p:sp>
        <p:nvSpPr>
          <p:cNvPr id="67" name="Oval 66"/>
          <p:cNvSpPr/>
          <p:nvPr>
            <p:custDataLst>
              <p:tags r:id="rId15"/>
            </p:custDataLst>
          </p:nvPr>
        </p:nvSpPr>
        <p:spPr>
          <a:xfrm>
            <a:off x="6820924" y="4960793"/>
            <a:ext cx="610137" cy="610137"/>
          </a:xfrm>
          <a:prstGeom prst="ellipse">
            <a:avLst/>
          </a:prstGeom>
          <a:gradFill>
            <a:gsLst>
              <a:gs pos="44000">
                <a:schemeClr val="accent1">
                  <a:lumMod val="75000"/>
                  <a:lumOff val="25000"/>
                </a:schemeClr>
              </a:gs>
              <a:gs pos="0">
                <a:schemeClr val="accent1">
                  <a:lumMod val="40000"/>
                  <a:lumOff val="60000"/>
                </a:schemeClr>
              </a:gs>
              <a:gs pos="66000">
                <a:schemeClr val="accent1"/>
              </a:gs>
              <a:gs pos="100000">
                <a:schemeClr val="accent1"/>
              </a:gs>
            </a:gsLst>
            <a:path path="circle">
              <a:fillToRect r="100000" b="100000"/>
            </a:path>
            <a:tileRect l="-100000" t="-100000"/>
          </a:gradFill>
          <a:ln>
            <a:gradFill>
              <a:gsLst>
                <a:gs pos="37000">
                  <a:schemeClr val="accent1">
                    <a:lumMod val="0"/>
                    <a:lumOff val="100000"/>
                  </a:schemeClr>
                </a:gs>
                <a:gs pos="0">
                  <a:schemeClr val="accent1">
                    <a:lumMod val="45000"/>
                    <a:lumOff val="55000"/>
                  </a:schemeClr>
                </a:gs>
                <a:gs pos="100000">
                  <a:schemeClr val="accent1">
                    <a:lumMod val="0"/>
                    <a:lumOff val="100000"/>
                  </a:schemeClr>
                </a:gs>
                <a:gs pos="71000">
                  <a:schemeClr val="accent1">
                    <a:lumMod val="30000"/>
                    <a:lumOff val="70000"/>
                  </a:schemeClr>
                </a:gs>
              </a:gsLst>
              <a:lin ang="16200000" scaled="0"/>
            </a:gradFill>
          </a:ln>
          <a:effectLst>
            <a:outerShdw blurRad="203200" dir="5400000" sx="90000" sy="-19000" rotWithShape="0">
              <a:schemeClr val="accent1">
                <a:lumMod val="7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lstStyle/>
          <a:p>
            <a:pPr lvl="0" algn="ctr">
              <a:buClrTx/>
              <a:buSzTx/>
              <a:buFontTx/>
            </a:pPr>
            <a:r>
              <a:rPr lang="en-US" sz="1400" b="1" dirty="0">
                <a:latin typeface="+mj-lt"/>
                <a:sym typeface="+mn-lt"/>
              </a:rPr>
              <a:t>6</a:t>
            </a:r>
            <a:endParaRPr lang="en-US" sz="1400" b="1" dirty="0">
              <a:latin typeface="+mj-lt"/>
              <a:sym typeface="+mn-lt"/>
            </a:endParaRPr>
          </a:p>
        </p:txBody>
      </p:sp>
      <p:sp>
        <p:nvSpPr>
          <p:cNvPr id="58" name="Oval 36"/>
          <p:cNvSpPr/>
          <p:nvPr>
            <p:custDataLst>
              <p:tags r:id="rId16"/>
            </p:custDataLst>
          </p:nvPr>
        </p:nvSpPr>
        <p:spPr>
          <a:xfrm>
            <a:off x="4220640" y="2072555"/>
            <a:ext cx="349891" cy="349891"/>
          </a:xfrm>
          <a:prstGeom prst="ellipse">
            <a:avLst/>
          </a:prstGeom>
          <a:gradFill>
            <a:gsLst>
              <a:gs pos="44000">
                <a:schemeClr val="accent1">
                  <a:lumMod val="75000"/>
                  <a:lumOff val="25000"/>
                </a:schemeClr>
              </a:gs>
              <a:gs pos="0">
                <a:schemeClr val="accent1">
                  <a:lumMod val="40000"/>
                  <a:lumOff val="60000"/>
                </a:schemeClr>
              </a:gs>
              <a:gs pos="66000">
                <a:schemeClr val="accent1"/>
              </a:gs>
              <a:gs pos="100000">
                <a:schemeClr val="accent1"/>
              </a:gs>
            </a:gsLst>
            <a:path path="circle">
              <a:fillToRect r="100000" b="100000"/>
            </a:path>
            <a:tileRect l="-100000" t="-100000"/>
          </a:gradFill>
          <a:ln>
            <a:gradFill>
              <a:gsLst>
                <a:gs pos="37000">
                  <a:schemeClr val="accent1">
                    <a:lumMod val="0"/>
                    <a:lumOff val="100000"/>
                  </a:schemeClr>
                </a:gs>
                <a:gs pos="0">
                  <a:schemeClr val="accent1">
                    <a:lumMod val="45000"/>
                    <a:lumOff val="55000"/>
                  </a:schemeClr>
                </a:gs>
                <a:gs pos="100000">
                  <a:schemeClr val="accent1">
                    <a:lumMod val="0"/>
                    <a:lumOff val="100000"/>
                  </a:schemeClr>
                </a:gs>
                <a:gs pos="71000">
                  <a:schemeClr val="accent1">
                    <a:lumMod val="30000"/>
                    <a:lumOff val="70000"/>
                  </a:schemeClr>
                </a:gs>
              </a:gsLst>
              <a:lin ang="16200000" scaled="0"/>
            </a:gradFill>
          </a:ln>
          <a:effectLst>
            <a:outerShdw blurRad="165100" dir="5400000" sx="90000" sy="-19000" rotWithShape="0">
              <a:schemeClr val="accent1">
                <a:lumMod val="7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fontScale="60000"/>
          </a:bodyPr>
          <a:lstStyle/>
          <a:p>
            <a:pPr lvl="0" algn="ctr">
              <a:buClrTx/>
              <a:buSzTx/>
              <a:buFontTx/>
            </a:pPr>
            <a:r>
              <a:rPr lang="en-US" sz="1600" b="1" dirty="0">
                <a:latin typeface="+mj-lt"/>
                <a:sym typeface="+mn-lt"/>
              </a:rPr>
              <a:t>1</a:t>
            </a:r>
            <a:endParaRPr lang="en-US" sz="1600" b="1" dirty="0">
              <a:latin typeface="+mj-lt"/>
              <a:sym typeface="+mn-lt"/>
            </a:endParaRPr>
          </a:p>
        </p:txBody>
      </p:sp>
      <p:sp>
        <p:nvSpPr>
          <p:cNvPr id="59" name="Oval 54"/>
          <p:cNvSpPr/>
          <p:nvPr>
            <p:custDataLst>
              <p:tags r:id="rId17"/>
            </p:custDataLst>
          </p:nvPr>
        </p:nvSpPr>
        <p:spPr>
          <a:xfrm>
            <a:off x="6137982" y="2466999"/>
            <a:ext cx="390640" cy="390640"/>
          </a:xfrm>
          <a:prstGeom prst="ellipse">
            <a:avLst/>
          </a:prstGeom>
          <a:gradFill>
            <a:gsLst>
              <a:gs pos="44000">
                <a:schemeClr val="accent1">
                  <a:lumMod val="75000"/>
                  <a:lumOff val="25000"/>
                </a:schemeClr>
              </a:gs>
              <a:gs pos="0">
                <a:schemeClr val="accent1">
                  <a:lumMod val="40000"/>
                  <a:lumOff val="60000"/>
                </a:schemeClr>
              </a:gs>
              <a:gs pos="66000">
                <a:schemeClr val="accent1"/>
              </a:gs>
              <a:gs pos="100000">
                <a:schemeClr val="accent1"/>
              </a:gs>
            </a:gsLst>
            <a:path path="circle">
              <a:fillToRect r="100000" b="100000"/>
            </a:path>
            <a:tileRect l="-100000" t="-100000"/>
          </a:gradFill>
          <a:ln>
            <a:gradFill>
              <a:gsLst>
                <a:gs pos="37000">
                  <a:schemeClr val="accent1">
                    <a:lumMod val="0"/>
                    <a:lumOff val="100000"/>
                  </a:schemeClr>
                </a:gs>
                <a:gs pos="0">
                  <a:schemeClr val="accent1">
                    <a:lumMod val="45000"/>
                    <a:lumOff val="55000"/>
                  </a:schemeClr>
                </a:gs>
                <a:gs pos="100000">
                  <a:schemeClr val="accent1">
                    <a:lumMod val="0"/>
                    <a:lumOff val="100000"/>
                  </a:schemeClr>
                </a:gs>
                <a:gs pos="71000">
                  <a:schemeClr val="accent1">
                    <a:lumMod val="30000"/>
                    <a:lumOff val="70000"/>
                  </a:schemeClr>
                </a:gs>
              </a:gsLst>
              <a:lin ang="16200000" scaled="0"/>
            </a:gradFill>
          </a:ln>
          <a:effectLst>
            <a:outerShdw blurRad="177800" dir="5400000" sx="90000" sy="-19000" rotWithShape="0">
              <a:schemeClr val="accent1">
                <a:lumMod val="7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fontScale="80000"/>
          </a:bodyPr>
          <a:lstStyle/>
          <a:p>
            <a:pPr lvl="0" algn="ctr">
              <a:buClrTx/>
              <a:buSzTx/>
              <a:buFontTx/>
            </a:pPr>
            <a:r>
              <a:rPr lang="en-US" sz="1400" b="1" dirty="0">
                <a:latin typeface="+mj-lt"/>
                <a:sym typeface="+mn-lt"/>
              </a:rPr>
              <a:t>2</a:t>
            </a:r>
            <a:endParaRPr lang="en-US" sz="1400" b="1" dirty="0">
              <a:latin typeface="+mj-lt"/>
              <a:sym typeface="+mn-lt"/>
            </a:endParaRPr>
          </a:p>
        </p:txBody>
      </p:sp>
      <p:sp>
        <p:nvSpPr>
          <p:cNvPr id="60" name="Oval 42"/>
          <p:cNvSpPr/>
          <p:nvPr>
            <p:custDataLst>
              <p:tags r:id="rId18"/>
            </p:custDataLst>
          </p:nvPr>
        </p:nvSpPr>
        <p:spPr>
          <a:xfrm>
            <a:off x="5275207" y="3391170"/>
            <a:ext cx="442798" cy="442798"/>
          </a:xfrm>
          <a:prstGeom prst="ellipse">
            <a:avLst/>
          </a:prstGeom>
          <a:gradFill>
            <a:gsLst>
              <a:gs pos="44000">
                <a:schemeClr val="accent1">
                  <a:lumMod val="75000"/>
                  <a:lumOff val="25000"/>
                </a:schemeClr>
              </a:gs>
              <a:gs pos="0">
                <a:schemeClr val="accent1">
                  <a:lumMod val="40000"/>
                  <a:lumOff val="60000"/>
                </a:schemeClr>
              </a:gs>
              <a:gs pos="66000">
                <a:schemeClr val="accent1"/>
              </a:gs>
              <a:gs pos="100000">
                <a:schemeClr val="accent1"/>
              </a:gs>
            </a:gsLst>
            <a:path path="circle">
              <a:fillToRect r="100000" b="100000"/>
            </a:path>
            <a:tileRect l="-100000" t="-100000"/>
          </a:gradFill>
          <a:ln>
            <a:gradFill>
              <a:gsLst>
                <a:gs pos="37000">
                  <a:schemeClr val="accent1">
                    <a:lumMod val="0"/>
                    <a:lumOff val="100000"/>
                  </a:schemeClr>
                </a:gs>
                <a:gs pos="0">
                  <a:schemeClr val="accent1">
                    <a:lumMod val="45000"/>
                    <a:lumOff val="55000"/>
                  </a:schemeClr>
                </a:gs>
                <a:gs pos="100000">
                  <a:schemeClr val="accent1">
                    <a:lumMod val="0"/>
                    <a:lumOff val="100000"/>
                  </a:schemeClr>
                </a:gs>
                <a:gs pos="71000">
                  <a:schemeClr val="accent1">
                    <a:lumMod val="30000"/>
                    <a:lumOff val="70000"/>
                  </a:schemeClr>
                </a:gs>
              </a:gsLst>
              <a:lin ang="16200000" scaled="0"/>
            </a:gradFill>
          </a:ln>
          <a:effectLst>
            <a:outerShdw blurRad="190500" dir="5400000" sx="90000" sy="-19000" rotWithShape="0">
              <a:schemeClr val="accent1">
                <a:lumMod val="7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lstStyle/>
          <a:p>
            <a:pPr lvl="0" algn="ctr">
              <a:buClrTx/>
              <a:buSzTx/>
              <a:buFontTx/>
            </a:pPr>
            <a:r>
              <a:rPr lang="en-US" sz="1400" b="1" dirty="0">
                <a:latin typeface="+mj-lt"/>
                <a:sym typeface="+mn-lt"/>
              </a:rPr>
              <a:t>3</a:t>
            </a:r>
            <a:endParaRPr lang="en-US" sz="1400" b="1" dirty="0">
              <a:latin typeface="+mj-lt"/>
              <a:sym typeface="+mn-lt"/>
            </a:endParaRPr>
          </a:p>
        </p:txBody>
      </p:sp>
      <p:sp>
        <p:nvSpPr>
          <p:cNvPr id="61" name="Oval 60"/>
          <p:cNvSpPr/>
          <p:nvPr>
            <p:custDataLst>
              <p:tags r:id="rId19"/>
            </p:custDataLst>
          </p:nvPr>
        </p:nvSpPr>
        <p:spPr>
          <a:xfrm>
            <a:off x="7113226" y="3667170"/>
            <a:ext cx="484090" cy="484090"/>
          </a:xfrm>
          <a:prstGeom prst="ellipse">
            <a:avLst/>
          </a:prstGeom>
          <a:gradFill>
            <a:gsLst>
              <a:gs pos="44000">
                <a:schemeClr val="accent1">
                  <a:lumMod val="75000"/>
                  <a:lumOff val="25000"/>
                </a:schemeClr>
              </a:gs>
              <a:gs pos="0">
                <a:schemeClr val="accent1">
                  <a:lumMod val="40000"/>
                  <a:lumOff val="60000"/>
                </a:schemeClr>
              </a:gs>
              <a:gs pos="66000">
                <a:schemeClr val="accent1"/>
              </a:gs>
              <a:gs pos="100000">
                <a:schemeClr val="accent1"/>
              </a:gs>
            </a:gsLst>
            <a:path path="circle">
              <a:fillToRect r="100000" b="100000"/>
            </a:path>
            <a:tileRect l="-100000" t="-100000"/>
          </a:gradFill>
          <a:ln>
            <a:gradFill>
              <a:gsLst>
                <a:gs pos="37000">
                  <a:schemeClr val="accent1">
                    <a:lumMod val="0"/>
                    <a:lumOff val="100000"/>
                  </a:schemeClr>
                </a:gs>
                <a:gs pos="0">
                  <a:schemeClr val="accent1">
                    <a:lumMod val="45000"/>
                    <a:lumOff val="55000"/>
                  </a:schemeClr>
                </a:gs>
                <a:gs pos="100000">
                  <a:schemeClr val="accent1">
                    <a:lumMod val="0"/>
                    <a:lumOff val="100000"/>
                  </a:schemeClr>
                </a:gs>
                <a:gs pos="71000">
                  <a:schemeClr val="accent1">
                    <a:lumMod val="30000"/>
                    <a:lumOff val="70000"/>
                  </a:schemeClr>
                </a:gs>
              </a:gsLst>
              <a:lin ang="16200000" scaled="0"/>
            </a:gradFill>
          </a:ln>
          <a:effectLst>
            <a:outerShdw blurRad="190500" dir="5400000" sx="90000" sy="-19000" rotWithShape="0">
              <a:schemeClr val="accent1">
                <a:lumMod val="7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lstStyle/>
          <a:p>
            <a:pPr lvl="0" algn="ctr">
              <a:buClrTx/>
              <a:buSzTx/>
              <a:buFontTx/>
            </a:pPr>
            <a:r>
              <a:rPr lang="en-US" sz="1400" b="1" dirty="0">
                <a:latin typeface="+mj-lt"/>
                <a:sym typeface="+mn-lt"/>
              </a:rPr>
              <a:t>4</a:t>
            </a:r>
            <a:endParaRPr lang="en-US" sz="1400" b="1" dirty="0">
              <a:latin typeface="+mj-lt"/>
              <a:sym typeface="+mn-lt"/>
            </a:endParaRPr>
          </a:p>
        </p:txBody>
      </p:sp>
      <p:sp>
        <p:nvSpPr>
          <p:cNvPr id="62" name="Oval 48"/>
          <p:cNvSpPr/>
          <p:nvPr>
            <p:custDataLst>
              <p:tags r:id="rId20"/>
            </p:custDataLst>
          </p:nvPr>
        </p:nvSpPr>
        <p:spPr>
          <a:xfrm>
            <a:off x="3886504" y="4679901"/>
            <a:ext cx="537333" cy="537333"/>
          </a:xfrm>
          <a:prstGeom prst="ellipse">
            <a:avLst/>
          </a:prstGeom>
          <a:gradFill>
            <a:gsLst>
              <a:gs pos="44000">
                <a:schemeClr val="accent1">
                  <a:lumMod val="75000"/>
                  <a:lumOff val="25000"/>
                </a:schemeClr>
              </a:gs>
              <a:gs pos="0">
                <a:schemeClr val="accent1">
                  <a:lumMod val="40000"/>
                  <a:lumOff val="60000"/>
                </a:schemeClr>
              </a:gs>
              <a:gs pos="66000">
                <a:schemeClr val="accent1"/>
              </a:gs>
              <a:gs pos="100000">
                <a:schemeClr val="accent1"/>
              </a:gs>
            </a:gsLst>
            <a:path path="circle">
              <a:fillToRect r="100000" b="100000"/>
            </a:path>
            <a:tileRect l="-100000" t="-100000"/>
          </a:gradFill>
          <a:ln>
            <a:gradFill>
              <a:gsLst>
                <a:gs pos="37000">
                  <a:schemeClr val="accent1">
                    <a:lumMod val="0"/>
                    <a:lumOff val="100000"/>
                  </a:schemeClr>
                </a:gs>
                <a:gs pos="0">
                  <a:schemeClr val="accent1">
                    <a:lumMod val="45000"/>
                    <a:lumOff val="55000"/>
                  </a:schemeClr>
                </a:gs>
                <a:gs pos="100000">
                  <a:schemeClr val="accent1">
                    <a:lumMod val="0"/>
                    <a:lumOff val="100000"/>
                  </a:schemeClr>
                </a:gs>
                <a:gs pos="71000">
                  <a:schemeClr val="accent1">
                    <a:lumMod val="30000"/>
                    <a:lumOff val="70000"/>
                  </a:schemeClr>
                </a:gs>
              </a:gsLst>
              <a:lin ang="16200000" scaled="0"/>
            </a:gradFill>
          </a:ln>
          <a:effectLst>
            <a:outerShdw blurRad="190500" dir="5400000" sx="90000" sy="-19000" rotWithShape="0">
              <a:schemeClr val="accent1">
                <a:lumMod val="7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lstStyle/>
          <a:p>
            <a:pPr lvl="0" algn="ctr">
              <a:buClrTx/>
              <a:buSzTx/>
              <a:buFontTx/>
            </a:pPr>
            <a:r>
              <a:rPr lang="en-US" sz="1400" b="1" dirty="0">
                <a:latin typeface="+mj-lt"/>
                <a:sym typeface="+mn-lt"/>
              </a:rPr>
              <a:t>5</a:t>
            </a:r>
            <a:endParaRPr lang="en-US" sz="1400" b="1" dirty="0">
              <a:latin typeface="+mj-lt"/>
              <a:sym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4000" b="1">
                <a:latin typeface="Times New Roman" panose="02020603050405020304" charset="0"/>
                <a:cs typeface="Times New Roman" panose="02020603050405020304" charset="0"/>
                <a:sym typeface="+mn-ea"/>
              </a:rPr>
              <a:t>DATA COLLECTION</a:t>
            </a:r>
            <a:endParaRPr lang="en-US" altLang="en-US" sz="4000" b="1">
              <a:latin typeface="Times New Roman" panose="02020603050405020304" charset="0"/>
              <a:cs typeface="Times New Roman" panose="02020603050405020304" charset="0"/>
              <a:sym typeface="+mn-ea"/>
            </a:endParaRPr>
          </a:p>
        </p:txBody>
      </p:sp>
      <p:sp>
        <p:nvSpPr>
          <p:cNvPr id="3" name="Content Placeholder 2"/>
          <p:cNvSpPr>
            <a:spLocks noGrp="1"/>
          </p:cNvSpPr>
          <p:nvPr>
            <p:ph idx="1"/>
          </p:nvPr>
        </p:nvSpPr>
        <p:spPr/>
        <p:txBody>
          <a:bodyPr/>
          <a:p>
            <a:pPr algn="just">
              <a:lnSpc>
                <a:spcPct val="150000"/>
              </a:lnSpc>
            </a:pPr>
            <a:r>
              <a:rPr lang="en-US" altLang="en-US" sz="2000">
                <a:latin typeface="Times New Roman" panose="02020603050405020304" charset="0"/>
                <a:cs typeface="Times New Roman" panose="02020603050405020304" charset="0"/>
              </a:rPr>
              <a:t>In this project, data has been gathered from a structured sales dataset that includes detailed information about drug sales, customer demographics, pricing, production costs, and regulatory compliance. The collected data enables comprehensive analysis of sales performance, customer behavior, profitability, and geographic trends. By integrating multiple data points such as sales transactions, drug details, and customer attributes, the dashboard supports accurate reporting, effective decision-making, and deeper insights into pharmaceutical market dynamics.</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Content Placeholder 3"/>
          <p:cNvGraphicFramePr/>
          <p:nvPr>
            <p:ph idx="1"/>
            <p:custDataLst>
              <p:tags r:id="rId1"/>
            </p:custDataLst>
          </p:nvPr>
        </p:nvGraphicFramePr>
        <p:xfrm>
          <a:off x="838200" y="967740"/>
          <a:ext cx="10274300" cy="2988310"/>
        </p:xfrm>
        <a:graphic>
          <a:graphicData uri="http://schemas.openxmlformats.org/drawingml/2006/table">
            <a:tbl>
              <a:tblPr/>
              <a:tblGrid>
                <a:gridCol w="1243330"/>
                <a:gridCol w="1950720"/>
                <a:gridCol w="1658620"/>
                <a:gridCol w="2030095"/>
                <a:gridCol w="3391535"/>
              </a:tblGrid>
              <a:tr h="855980">
                <a:tc>
                  <a:txBody>
                    <a:bodyPr/>
                    <a:p>
                      <a:pPr>
                        <a:spcBef>
                          <a:spcPct val="0"/>
                        </a:spcBef>
                        <a:spcAft>
                          <a:spcPct val="0"/>
                        </a:spcAft>
                      </a:pPr>
                      <a:r>
                        <a:rPr sz="2000" b="1" i="0">
                          <a:solidFill>
                            <a:srgbClr val="000000"/>
                          </a:solidFill>
                          <a:latin typeface="Times New Roman" panose="02020603050405020304"/>
                          <a:ea typeface="SimSun" panose="02010600030101010101" pitchFamily="2" charset="-122"/>
                        </a:rPr>
                        <a:t>SL.NO</a:t>
                      </a:r>
                      <a:endParaRPr sz="2000" b="1"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nSpc>
                          <a:spcPct val="150000"/>
                        </a:lnSpc>
                        <a:spcBef>
                          <a:spcPct val="0"/>
                        </a:spcBef>
                        <a:spcAft>
                          <a:spcPct val="0"/>
                        </a:spcAft>
                      </a:pPr>
                      <a:r>
                        <a:rPr sz="2000" b="1" i="0">
                          <a:solidFill>
                            <a:srgbClr val="000000"/>
                          </a:solidFill>
                          <a:latin typeface="Times New Roman" panose="02020603050405020304"/>
                          <a:ea typeface="SimSun" panose="02010600030101010101" pitchFamily="2" charset="-122"/>
                        </a:rPr>
                        <a:t>SALES DATA</a:t>
                      </a:r>
                      <a:endParaRPr sz="2000" b="1"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nSpc>
                          <a:spcPct val="150000"/>
                        </a:lnSpc>
                        <a:spcBef>
                          <a:spcPct val="0"/>
                        </a:spcBef>
                        <a:spcAft>
                          <a:spcPct val="0"/>
                        </a:spcAft>
                      </a:pPr>
                      <a:r>
                        <a:rPr sz="2000" b="1" i="0">
                          <a:solidFill>
                            <a:srgbClr val="000000"/>
                          </a:solidFill>
                          <a:latin typeface="Times New Roman" panose="02020603050405020304"/>
                          <a:ea typeface="SimSun" panose="02010600030101010101" pitchFamily="2" charset="-122"/>
                        </a:rPr>
                        <a:t>DRUG DATA</a:t>
                      </a:r>
                      <a:endParaRPr sz="2000" b="1"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nSpc>
                          <a:spcPct val="150000"/>
                        </a:lnSpc>
                        <a:spcBef>
                          <a:spcPct val="0"/>
                        </a:spcBef>
                        <a:spcAft>
                          <a:spcPct val="0"/>
                        </a:spcAft>
                      </a:pPr>
                      <a:r>
                        <a:rPr sz="2000" b="1" i="0">
                          <a:solidFill>
                            <a:srgbClr val="000000"/>
                          </a:solidFill>
                          <a:latin typeface="Times New Roman" panose="02020603050405020304"/>
                          <a:ea typeface="SimSun" panose="02010600030101010101" pitchFamily="2" charset="-122"/>
                        </a:rPr>
                        <a:t>CUSTOMER DATA</a:t>
                      </a:r>
                      <a:endParaRPr sz="2000" b="1"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lnSpc>
                          <a:spcPct val="150000"/>
                        </a:lnSpc>
                        <a:spcBef>
                          <a:spcPct val="0"/>
                        </a:spcBef>
                        <a:spcAft>
                          <a:spcPct val="0"/>
                        </a:spcAft>
                      </a:pPr>
                      <a:r>
                        <a:rPr sz="2000" b="1" i="0">
                          <a:solidFill>
                            <a:srgbClr val="000000"/>
                          </a:solidFill>
                          <a:latin typeface="Times New Roman" panose="02020603050405020304"/>
                          <a:ea typeface="SimSun" panose="02010600030101010101" pitchFamily="2" charset="-122"/>
                        </a:rPr>
                        <a:t>COST DATA</a:t>
                      </a:r>
                      <a:endParaRPr sz="2000" b="1"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431800">
                <a:tc>
                  <a:txBody>
                    <a:bodyPr/>
                    <a:p>
                      <a:pPr>
                        <a:spcBef>
                          <a:spcPct val="0"/>
                        </a:spcBef>
                        <a:spcAft>
                          <a:spcPct val="0"/>
                        </a:spcAft>
                      </a:pPr>
                      <a:r>
                        <a:rPr sz="2000" b="0" i="0">
                          <a:solidFill>
                            <a:srgbClr val="000000"/>
                          </a:solidFill>
                          <a:latin typeface="Times New Roman" panose="02020603050405020304"/>
                          <a:ea typeface="SimSun" panose="02010600030101010101" pitchFamily="2" charset="-122"/>
                        </a:rPr>
                        <a:t>1.</a:t>
                      </a: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spcBef>
                          <a:spcPct val="0"/>
                        </a:spcBef>
                        <a:spcAft>
                          <a:spcPct val="0"/>
                        </a:spcAft>
                      </a:pPr>
                      <a:r>
                        <a:rPr sz="2000" b="0" i="0">
                          <a:solidFill>
                            <a:srgbClr val="000000"/>
                          </a:solidFill>
                          <a:latin typeface="Times New Roman" panose="02020603050405020304"/>
                          <a:ea typeface="SimSun" panose="02010600030101010101" pitchFamily="2" charset="-122"/>
                        </a:rPr>
                        <a:t>SalesID</a:t>
                      </a: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spcBef>
                          <a:spcPct val="0"/>
                        </a:spcBef>
                        <a:spcAft>
                          <a:spcPct val="0"/>
                        </a:spcAft>
                      </a:pPr>
                      <a:r>
                        <a:rPr sz="2000" b="0" i="0">
                          <a:solidFill>
                            <a:srgbClr val="000000"/>
                          </a:solidFill>
                          <a:latin typeface="Times New Roman" panose="02020603050405020304"/>
                          <a:ea typeface="SimSun" panose="02010600030101010101" pitchFamily="2" charset="-122"/>
                        </a:rPr>
                        <a:t>DrugID</a:t>
                      </a: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spcBef>
                          <a:spcPct val="0"/>
                        </a:spcBef>
                        <a:spcAft>
                          <a:spcPct val="0"/>
                        </a:spcAft>
                      </a:pPr>
                      <a:r>
                        <a:rPr sz="2000" b="0" i="0">
                          <a:solidFill>
                            <a:srgbClr val="000000"/>
                          </a:solidFill>
                          <a:latin typeface="Times New Roman" panose="02020603050405020304"/>
                          <a:ea typeface="SimSun" panose="02010600030101010101" pitchFamily="2" charset="-122"/>
                        </a:rPr>
                        <a:t>CustomerID</a:t>
                      </a: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spcBef>
                          <a:spcPct val="0"/>
                        </a:spcBef>
                        <a:spcAft>
                          <a:spcPct val="0"/>
                        </a:spcAft>
                      </a:pPr>
                      <a:r>
                        <a:rPr sz="2000" b="0" i="0">
                          <a:solidFill>
                            <a:srgbClr val="000000"/>
                          </a:solidFill>
                          <a:latin typeface="Times New Roman" panose="02020603050405020304"/>
                          <a:ea typeface="SimSun" panose="02010600030101010101" pitchFamily="2" charset="-122"/>
                        </a:rPr>
                        <a:t>Cost Of Production</a:t>
                      </a: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366395">
                <a:tc>
                  <a:txBody>
                    <a:bodyPr/>
                    <a:p>
                      <a:pPr>
                        <a:spcBef>
                          <a:spcPct val="0"/>
                        </a:spcBef>
                        <a:spcAft>
                          <a:spcPct val="0"/>
                        </a:spcAft>
                      </a:pPr>
                      <a:r>
                        <a:rPr sz="2000" b="0" i="0">
                          <a:solidFill>
                            <a:srgbClr val="000000"/>
                          </a:solidFill>
                          <a:latin typeface="Times New Roman" panose="02020603050405020304"/>
                          <a:ea typeface="SimSun" panose="02010600030101010101" pitchFamily="2" charset="-122"/>
                        </a:rPr>
                        <a:t>2.</a:t>
                      </a: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spcBef>
                          <a:spcPct val="0"/>
                        </a:spcBef>
                        <a:spcAft>
                          <a:spcPct val="0"/>
                        </a:spcAft>
                      </a:pPr>
                      <a:r>
                        <a:rPr sz="2000" b="0" i="0">
                          <a:solidFill>
                            <a:srgbClr val="000000"/>
                          </a:solidFill>
                          <a:latin typeface="Times New Roman" panose="02020603050405020304"/>
                          <a:ea typeface="SimSun" panose="02010600030101010101" pitchFamily="2" charset="-122"/>
                        </a:rPr>
                        <a:t>SalesDate</a:t>
                      </a: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spcBef>
                          <a:spcPct val="0"/>
                        </a:spcBef>
                        <a:spcAft>
                          <a:spcPct val="0"/>
                        </a:spcAft>
                      </a:pPr>
                      <a:r>
                        <a:rPr sz="2000" b="0" i="0">
                          <a:solidFill>
                            <a:srgbClr val="000000"/>
                          </a:solidFill>
                          <a:latin typeface="Times New Roman" panose="02020603050405020304"/>
                          <a:ea typeface="SimSun" panose="02010600030101010101" pitchFamily="2" charset="-122"/>
                        </a:rPr>
                        <a:t>Drugname</a:t>
                      </a: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spcBef>
                          <a:spcPct val="0"/>
                        </a:spcBef>
                        <a:spcAft>
                          <a:spcPct val="0"/>
                        </a:spcAft>
                      </a:pPr>
                      <a:r>
                        <a:rPr sz="2000" b="0" i="0">
                          <a:solidFill>
                            <a:srgbClr val="000000"/>
                          </a:solidFill>
                          <a:latin typeface="Times New Roman" panose="02020603050405020304"/>
                          <a:ea typeface="SimSun" panose="02010600030101010101" pitchFamily="2" charset="-122"/>
                        </a:rPr>
                        <a:t>CustomerName</a:t>
                      </a: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spcBef>
                          <a:spcPct val="0"/>
                        </a:spcBef>
                        <a:spcAft>
                          <a:spcPct val="0"/>
                        </a:spcAft>
                      </a:pPr>
                      <a:r>
                        <a:rPr sz="2000" b="0" i="0">
                          <a:solidFill>
                            <a:srgbClr val="000000"/>
                          </a:solidFill>
                          <a:latin typeface="Times New Roman" panose="02020603050405020304"/>
                          <a:ea typeface="SimSun" panose="02010600030101010101" pitchFamily="2" charset="-122"/>
                        </a:rPr>
                        <a:t>RegulatoryComplianceID</a:t>
                      </a: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396875">
                <a:tc>
                  <a:txBody>
                    <a:bodyPr/>
                    <a:p>
                      <a:pPr>
                        <a:spcBef>
                          <a:spcPct val="0"/>
                        </a:spcBef>
                        <a:spcAft>
                          <a:spcPct val="0"/>
                        </a:spcAft>
                      </a:pPr>
                      <a:r>
                        <a:rPr sz="2000" b="0" i="0">
                          <a:solidFill>
                            <a:srgbClr val="000000"/>
                          </a:solidFill>
                          <a:latin typeface="Times New Roman" panose="02020603050405020304"/>
                          <a:ea typeface="SimSun" panose="02010600030101010101" pitchFamily="2" charset="-122"/>
                        </a:rPr>
                        <a:t>3.</a:t>
                      </a: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spcBef>
                          <a:spcPct val="0"/>
                        </a:spcBef>
                        <a:spcAft>
                          <a:spcPct val="0"/>
                        </a:spcAft>
                      </a:pPr>
                      <a:r>
                        <a:rPr sz="2000" b="0" i="0">
                          <a:solidFill>
                            <a:srgbClr val="000000"/>
                          </a:solidFill>
                          <a:latin typeface="Times New Roman" panose="02020603050405020304"/>
                          <a:ea typeface="SimSun" panose="02010600030101010101" pitchFamily="2" charset="-122"/>
                        </a:rPr>
                        <a:t>UnitsSold</a:t>
                      </a: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spcBef>
                          <a:spcPct val="0"/>
                        </a:spcBef>
                        <a:spcAft>
                          <a:spcPct val="0"/>
                        </a:spcAft>
                      </a:pPr>
                      <a:r>
                        <a:rPr sz="2000" b="0" i="0">
                          <a:solidFill>
                            <a:srgbClr val="000000"/>
                          </a:solidFill>
                          <a:latin typeface="Times New Roman" panose="02020603050405020304"/>
                          <a:ea typeface="SimSun" panose="02010600030101010101" pitchFamily="2" charset="-122"/>
                        </a:rPr>
                        <a:t> </a:t>
                      </a: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spcBef>
                          <a:spcPct val="0"/>
                        </a:spcBef>
                        <a:spcAft>
                          <a:spcPct val="0"/>
                        </a:spcAft>
                      </a:pPr>
                      <a:r>
                        <a:rPr sz="2000" b="0" i="0">
                          <a:solidFill>
                            <a:srgbClr val="000000"/>
                          </a:solidFill>
                          <a:latin typeface="Times New Roman" panose="02020603050405020304"/>
                          <a:ea typeface="SimSun" panose="02010600030101010101" pitchFamily="2" charset="-122"/>
                        </a:rPr>
                        <a:t>Age</a:t>
                      </a: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spcBef>
                          <a:spcPct val="0"/>
                        </a:spcBef>
                        <a:spcAft>
                          <a:spcPct val="0"/>
                        </a:spcAft>
                      </a:pPr>
                      <a:r>
                        <a:rPr sz="2000" b="0" i="0">
                          <a:solidFill>
                            <a:srgbClr val="000000"/>
                          </a:solidFill>
                          <a:latin typeface="Times New Roman" panose="02020603050405020304"/>
                          <a:ea typeface="SimSun" panose="02010600030101010101" pitchFamily="2" charset="-122"/>
                        </a:rPr>
                        <a:t> </a:t>
                      </a: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432435">
                <a:tc>
                  <a:txBody>
                    <a:bodyPr/>
                    <a:p>
                      <a:pPr>
                        <a:spcBef>
                          <a:spcPct val="0"/>
                        </a:spcBef>
                        <a:spcAft>
                          <a:spcPct val="0"/>
                        </a:spcAft>
                      </a:pPr>
                      <a:r>
                        <a:rPr sz="2000" b="0" i="0">
                          <a:solidFill>
                            <a:srgbClr val="000000"/>
                          </a:solidFill>
                          <a:latin typeface="Times New Roman" panose="02020603050405020304"/>
                          <a:ea typeface="SimSun" panose="02010600030101010101" pitchFamily="2" charset="-122"/>
                        </a:rPr>
                        <a:t>4.</a:t>
                      </a: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spcBef>
                          <a:spcPct val="0"/>
                        </a:spcBef>
                        <a:spcAft>
                          <a:spcPct val="0"/>
                        </a:spcAft>
                      </a:pPr>
                      <a:r>
                        <a:rPr sz="2000" b="0" i="0">
                          <a:solidFill>
                            <a:srgbClr val="000000"/>
                          </a:solidFill>
                          <a:latin typeface="Times New Roman" panose="02020603050405020304"/>
                          <a:ea typeface="SimSun" panose="02010600030101010101" pitchFamily="2" charset="-122"/>
                        </a:rPr>
                        <a:t>UnitSalesPrice</a:t>
                      </a: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spcBef>
                          <a:spcPct val="0"/>
                        </a:spcBef>
                        <a:spcAft>
                          <a:spcPct val="0"/>
                        </a:spcAft>
                      </a:pPr>
                      <a:r>
                        <a:rPr sz="2000" b="0" i="0">
                          <a:solidFill>
                            <a:srgbClr val="000000"/>
                          </a:solidFill>
                          <a:latin typeface="Times New Roman" panose="02020603050405020304"/>
                          <a:ea typeface="SimSun" panose="02010600030101010101" pitchFamily="2" charset="-122"/>
                        </a:rPr>
                        <a:t> </a:t>
                      </a: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spcBef>
                          <a:spcPct val="0"/>
                        </a:spcBef>
                        <a:spcAft>
                          <a:spcPct val="0"/>
                        </a:spcAft>
                      </a:pPr>
                      <a:r>
                        <a:rPr sz="2000" b="0" i="0">
                          <a:solidFill>
                            <a:srgbClr val="000000"/>
                          </a:solidFill>
                          <a:latin typeface="Times New Roman" panose="02020603050405020304"/>
                          <a:ea typeface="SimSun" panose="02010600030101010101" pitchFamily="2" charset="-122"/>
                        </a:rPr>
                        <a:t>Gender</a:t>
                      </a: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spcBef>
                          <a:spcPct val="0"/>
                        </a:spcBef>
                        <a:spcAft>
                          <a:spcPct val="0"/>
                        </a:spcAft>
                      </a:pPr>
                      <a:r>
                        <a:rPr sz="2000" b="0" i="0">
                          <a:solidFill>
                            <a:srgbClr val="000000"/>
                          </a:solidFill>
                          <a:latin typeface="Times New Roman" panose="02020603050405020304"/>
                          <a:ea typeface="SimSun" panose="02010600030101010101" pitchFamily="2" charset="-122"/>
                        </a:rPr>
                        <a:t> </a:t>
                      </a: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504825">
                <a:tc>
                  <a:txBody>
                    <a:bodyPr/>
                    <a:p>
                      <a:pPr>
                        <a:spcBef>
                          <a:spcPct val="0"/>
                        </a:spcBef>
                        <a:spcAft>
                          <a:spcPct val="0"/>
                        </a:spcAft>
                      </a:pPr>
                      <a:r>
                        <a:rPr sz="2000" b="0" i="0">
                          <a:solidFill>
                            <a:srgbClr val="000000"/>
                          </a:solidFill>
                          <a:latin typeface="Times New Roman" panose="02020603050405020304"/>
                          <a:ea typeface="SimSun" panose="02010600030101010101" pitchFamily="2" charset="-122"/>
                        </a:rPr>
                        <a:t>5.</a:t>
                      </a: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spcBef>
                          <a:spcPct val="0"/>
                        </a:spcBef>
                        <a:spcAft>
                          <a:spcPct val="0"/>
                        </a:spcAft>
                      </a:pPr>
                      <a:r>
                        <a:rPr sz="2000" b="0" i="0">
                          <a:solidFill>
                            <a:srgbClr val="000000"/>
                          </a:solidFill>
                          <a:latin typeface="Times New Roman" panose="02020603050405020304"/>
                          <a:ea typeface="SimSun" panose="02010600030101010101" pitchFamily="2" charset="-122"/>
                        </a:rPr>
                        <a:t>BuyerType</a:t>
                      </a: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spcBef>
                          <a:spcPct val="0"/>
                        </a:spcBef>
                        <a:spcAft>
                          <a:spcPct val="0"/>
                        </a:spcAft>
                      </a:pPr>
                      <a:r>
                        <a:rPr sz="2000" b="0" i="0">
                          <a:solidFill>
                            <a:srgbClr val="000000"/>
                          </a:solidFill>
                          <a:latin typeface="Times New Roman" panose="02020603050405020304"/>
                          <a:ea typeface="SimSun" panose="02010600030101010101" pitchFamily="2" charset="-122"/>
                        </a:rPr>
                        <a:t> </a:t>
                      </a: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spcBef>
                          <a:spcPct val="0"/>
                        </a:spcBef>
                        <a:spcAft>
                          <a:spcPct val="0"/>
                        </a:spcAft>
                      </a:pPr>
                      <a:r>
                        <a:rPr sz="2000" b="0" i="0">
                          <a:solidFill>
                            <a:srgbClr val="000000"/>
                          </a:solidFill>
                          <a:latin typeface="Times New Roman" panose="02020603050405020304"/>
                          <a:ea typeface="SimSun" panose="02010600030101010101" pitchFamily="2" charset="-122"/>
                        </a:rPr>
                        <a:t>Country</a:t>
                      </a: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p>
                      <a:pPr>
                        <a:spcBef>
                          <a:spcPct val="0"/>
                        </a:spcBef>
                        <a:spcAft>
                          <a:spcPct val="0"/>
                        </a:spcAft>
                      </a:pPr>
                      <a:endParaRPr sz="2000" b="0" i="0">
                        <a:solidFill>
                          <a:srgbClr val="000000"/>
                        </a:solidFill>
                        <a:latin typeface="Times New Roman" panose="02020603050405020304"/>
                        <a:ea typeface="SimSun" panose="02010600030101010101" pitchFamily="2" charset="-122"/>
                      </a:endParaRPr>
                    </a:p>
                  </a:txBody>
                  <a:tcPr marL="68580" marR="68580" marT="0" marB="0"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3200" b="1">
                <a:latin typeface="Times New Roman" panose="02020603050405020304" charset="0"/>
                <a:cs typeface="Times New Roman" panose="02020603050405020304" charset="0"/>
              </a:rPr>
              <a:t>DATA LOADING:</a:t>
            </a:r>
            <a:endParaRPr lang="en-US" altLang="en-US" sz="32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pPr algn="just">
              <a:lnSpc>
                <a:spcPct val="150000"/>
              </a:lnSpc>
            </a:pPr>
            <a:r>
              <a:rPr lang="en-US" altLang="en-US" sz="2000">
                <a:latin typeface="Times New Roman" panose="02020603050405020304" charset="0"/>
                <a:cs typeface="Times New Roman" panose="02020603050405020304" charset="0"/>
              </a:rPr>
              <a:t>Loading the dataset/csv file into Power BI is super simple! Once you have opened Power BI desktop, click the Get Data button in the toolbar at the top of your screen, then select the Text/CSV option.</a:t>
            </a:r>
            <a:endParaRPr lang="en-US" altLang="en-US" sz="2000">
              <a:latin typeface="Times New Roman" panose="02020603050405020304" charset="0"/>
              <a:cs typeface="Times New Roman" panose="02020603050405020304" charset="0"/>
            </a:endParaRPr>
          </a:p>
          <a:p>
            <a:pPr algn="just">
              <a:lnSpc>
                <a:spcPct val="150000"/>
              </a:lnSpc>
            </a:pPr>
            <a:r>
              <a:rPr lang="en-US" altLang="en-US" sz="2000">
                <a:latin typeface="Times New Roman" panose="02020603050405020304" charset="0"/>
                <a:cs typeface="Times New Roman" panose="02020603050405020304" charset="0"/>
              </a:rPr>
              <a:t>From there, a window will pop up and you will have to navigate to the folder you saved the dataset in. Once you’ve selected the dataset, you’ll see the following window which gives you a preview of the data in the file.</a:t>
            </a:r>
            <a:endParaRPr lang="en-US" altLang="en-US" sz="2000">
              <a:latin typeface="Times New Roman" panose="02020603050405020304" charset="0"/>
              <a:cs typeface="Times New Roman" panose="02020603050405020304" charset="0"/>
            </a:endParaRPr>
          </a:p>
          <a:p>
            <a:pPr algn="just">
              <a:lnSpc>
                <a:spcPct val="150000"/>
              </a:lnSpc>
            </a:pPr>
            <a:r>
              <a:rPr lang="en-US" altLang="en-US" sz="2000">
                <a:latin typeface="Times New Roman" panose="02020603050405020304" charset="0"/>
                <a:cs typeface="Times New Roman" panose="02020603050405020304" charset="0"/>
              </a:rPr>
              <a:t>Click the Transform Data button in the bottom right corner, and it will take you to Power Query Editor.</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20"/>
          <p:cNvPicPr>
            <a:picLocks noChangeAspect="1"/>
          </p:cNvPicPr>
          <p:nvPr>
            <p:ph idx="1"/>
          </p:nvPr>
        </p:nvPicPr>
        <p:blipFill>
          <a:blip r:embed="rId1"/>
          <a:stretch>
            <a:fillRect/>
          </a:stretch>
        </p:blipFill>
        <p:spPr>
          <a:xfrm>
            <a:off x="0" y="-18415"/>
            <a:ext cx="12128500" cy="687641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4000" b="1">
                <a:latin typeface="Times New Roman" panose="02020603050405020304" charset="0"/>
                <a:cs typeface="Times New Roman" panose="02020603050405020304" charset="0"/>
              </a:rPr>
              <a:t>Data Cleaning in Power Query</a:t>
            </a:r>
            <a:endParaRPr lang="en-US" altLang="en-US" sz="40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noAutofit/>
          </a:bodyPr>
          <a:p>
            <a:r>
              <a:rPr lang="en-US" altLang="en-US" sz="2000">
                <a:latin typeface="Times New Roman" panose="02020603050405020304" charset="0"/>
                <a:cs typeface="Times New Roman" panose="02020603050405020304" charset="0"/>
              </a:rPr>
              <a:t>Dataset validated: 16,314 rows and 14 columns</a:t>
            </a:r>
            <a:endParaRPr lang="en-US" altLang="en-US" sz="2000">
              <a:latin typeface="Times New Roman" panose="02020603050405020304" charset="0"/>
              <a:cs typeface="Times New Roman" panose="02020603050405020304" charset="0"/>
            </a:endParaRPr>
          </a:p>
          <a:p>
            <a:pPr marL="0" indent="0">
              <a:buNone/>
            </a:pPr>
            <a:r>
              <a:rPr lang="en-US" altLang="en-US" sz="2000" b="1">
                <a:latin typeface="Times New Roman" panose="02020603050405020304" charset="0"/>
                <a:cs typeface="Times New Roman" panose="02020603050405020304" charset="0"/>
              </a:rPr>
              <a:t>Power Query applied steps:</a:t>
            </a:r>
            <a:endParaRPr lang="en-US" altLang="en-US" sz="2000" b="1">
              <a:latin typeface="Times New Roman" panose="02020603050405020304" charset="0"/>
              <a:cs typeface="Times New Roman" panose="02020603050405020304" charset="0"/>
            </a:endParaRPr>
          </a:p>
          <a:p>
            <a:pPr marL="0" indent="457200">
              <a:buNone/>
            </a:pPr>
            <a:r>
              <a:rPr lang="en-US" altLang="en-US" sz="2000">
                <a:latin typeface="Times New Roman" panose="02020603050405020304" charset="0"/>
                <a:cs typeface="Times New Roman" panose="02020603050405020304" charset="0"/>
              </a:rPr>
              <a:t>✔ Source</a:t>
            </a:r>
            <a:endParaRPr lang="en-US" altLang="en-US" sz="2000">
              <a:latin typeface="Times New Roman" panose="02020603050405020304" charset="0"/>
              <a:cs typeface="Times New Roman" panose="02020603050405020304" charset="0"/>
            </a:endParaRPr>
          </a:p>
          <a:p>
            <a:pPr marL="0" indent="457200">
              <a:buNone/>
            </a:pPr>
            <a:r>
              <a:rPr lang="en-US" altLang="en-US" sz="2000">
                <a:latin typeface="Times New Roman" panose="02020603050405020304" charset="0"/>
                <a:cs typeface="Times New Roman" panose="02020603050405020304" charset="0"/>
              </a:rPr>
              <a:t>✔ Promoted Headers</a:t>
            </a:r>
            <a:endParaRPr lang="en-US" altLang="en-US" sz="2000">
              <a:latin typeface="Times New Roman" panose="02020603050405020304" charset="0"/>
              <a:cs typeface="Times New Roman" panose="02020603050405020304" charset="0"/>
            </a:endParaRPr>
          </a:p>
          <a:p>
            <a:pPr marL="0" indent="457200">
              <a:buNone/>
            </a:pPr>
            <a:r>
              <a:rPr lang="en-US" altLang="en-US" sz="2000">
                <a:latin typeface="Times New Roman" panose="02020603050405020304" charset="0"/>
                <a:cs typeface="Times New Roman" panose="02020603050405020304" charset="0"/>
              </a:rPr>
              <a:t>✔ Changed Type</a:t>
            </a:r>
            <a:endParaRPr lang="en-US" altLang="en-US" sz="2000">
              <a:latin typeface="Times New Roman" panose="02020603050405020304" charset="0"/>
              <a:cs typeface="Times New Roman" panose="02020603050405020304" charset="0"/>
            </a:endParaRPr>
          </a:p>
          <a:p>
            <a:pPr marL="0" indent="0">
              <a:buNone/>
            </a:pPr>
            <a:r>
              <a:rPr lang="en-US" altLang="en-US" sz="2000" b="1">
                <a:latin typeface="Times New Roman" panose="02020603050405020304" charset="0"/>
                <a:cs typeface="Times New Roman" panose="02020603050405020304" charset="0"/>
              </a:rPr>
              <a:t>Inspected all columns for:</a:t>
            </a:r>
            <a:endParaRPr lang="en-US" altLang="en-US" sz="2000">
              <a:latin typeface="Times New Roman" panose="02020603050405020304" charset="0"/>
              <a:cs typeface="Times New Roman" panose="02020603050405020304" charset="0"/>
            </a:endParaRPr>
          </a:p>
          <a:p>
            <a:pPr marL="0" indent="457200">
              <a:buNone/>
            </a:pPr>
            <a:r>
              <a:rPr lang="en-US" altLang="en-US" sz="2000">
                <a:latin typeface="Times New Roman" panose="02020603050405020304" charset="0"/>
                <a:cs typeface="Times New Roman" panose="02020603050405020304" charset="0"/>
              </a:rPr>
              <a:t>✔ Naming issues</a:t>
            </a:r>
            <a:endParaRPr lang="en-US" altLang="en-US" sz="2000">
              <a:latin typeface="Times New Roman" panose="02020603050405020304" charset="0"/>
              <a:cs typeface="Times New Roman" panose="02020603050405020304" charset="0"/>
            </a:endParaRPr>
          </a:p>
          <a:p>
            <a:pPr marL="0" indent="457200">
              <a:buNone/>
            </a:pPr>
            <a:r>
              <a:rPr lang="en-US" altLang="en-US" sz="2000">
                <a:latin typeface="Times New Roman" panose="02020603050405020304" charset="0"/>
                <a:cs typeface="Times New Roman" panose="02020603050405020304" charset="0"/>
              </a:rPr>
              <a:t>✔ Data type mismatches</a:t>
            </a:r>
            <a:endParaRPr lang="en-US" altLang="en-US" sz="2000">
              <a:latin typeface="Times New Roman" panose="02020603050405020304" charset="0"/>
              <a:cs typeface="Times New Roman" panose="02020603050405020304" charset="0"/>
            </a:endParaRPr>
          </a:p>
          <a:p>
            <a:pPr marL="0" indent="457200">
              <a:buNone/>
            </a:pPr>
            <a:r>
              <a:rPr lang="en-US" altLang="en-US" sz="2000">
                <a:latin typeface="Times New Roman" panose="02020603050405020304" charset="0"/>
                <a:cs typeface="Times New Roman" panose="02020603050405020304" charset="0"/>
              </a:rPr>
              <a:t>✔ Unwanted or unused columns</a:t>
            </a:r>
            <a:endParaRPr lang="en-US" altLang="en-US" sz="2000">
              <a:latin typeface="Times New Roman" panose="02020603050405020304" charset="0"/>
              <a:cs typeface="Times New Roman" panose="02020603050405020304" charset="0"/>
            </a:endParaRPr>
          </a:p>
          <a:p>
            <a:pPr marL="0" indent="457200">
              <a:buNone/>
            </a:pPr>
            <a:r>
              <a:rPr lang="en-US" altLang="en-US" sz="2000">
                <a:latin typeface="Times New Roman" panose="02020603050405020304" charset="0"/>
                <a:cs typeface="Times New Roman" panose="02020603050405020304" charset="0"/>
              </a:rPr>
              <a:t>✔ Formatting inconsistencies</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No null values found in the dataset</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425450"/>
            <a:ext cx="10515600" cy="5751830"/>
          </a:xfrm>
        </p:spPr>
        <p:txBody>
          <a:bodyPr>
            <a:noAutofit/>
          </a:bodyPr>
          <a:p>
            <a:pPr marL="0" indent="0">
              <a:lnSpc>
                <a:spcPct val="150000"/>
              </a:lnSpc>
              <a:buNone/>
            </a:pPr>
            <a:r>
              <a:rPr lang="en-US" altLang="en-US" sz="2000" b="1">
                <a:latin typeface="Times New Roman" panose="02020603050405020304" charset="0"/>
                <a:cs typeface="Times New Roman" panose="02020603050405020304" charset="0"/>
              </a:rPr>
              <a:t>Original Columns:</a:t>
            </a:r>
            <a:endParaRPr lang="en-US" altLang="en-US" sz="2000" b="1">
              <a:latin typeface="Times New Roman" panose="02020603050405020304" charset="0"/>
              <a:cs typeface="Times New Roman" panose="02020603050405020304" charset="0"/>
            </a:endParaRPr>
          </a:p>
          <a:p>
            <a:pPr>
              <a:lnSpc>
                <a:spcPct val="150000"/>
              </a:lnSpc>
            </a:pPr>
            <a:r>
              <a:rPr lang="en-US" altLang="en-US" sz="2000">
                <a:latin typeface="Times New Roman" panose="02020603050405020304" charset="0"/>
                <a:cs typeface="Times New Roman" panose="02020603050405020304" charset="0"/>
              </a:rPr>
              <a:t>SaleID,SalesDate DrugID, CustomerID, full Name, BuyerType, Age, Gender, Country, DrugName, UnitsSold, UnitSalesPrice, CostOfProduction, RegualatorycomplainceId</a:t>
            </a:r>
            <a:endParaRPr lang="en-US" altLang="en-US" sz="2000">
              <a:latin typeface="Times New Roman" panose="02020603050405020304" charset="0"/>
              <a:cs typeface="Times New Roman" panose="02020603050405020304" charset="0"/>
            </a:endParaRPr>
          </a:p>
          <a:p>
            <a:pPr marL="0" indent="0">
              <a:lnSpc>
                <a:spcPct val="150000"/>
              </a:lnSpc>
              <a:buNone/>
            </a:pPr>
            <a:r>
              <a:rPr lang="en-US" altLang="en-US" sz="2000" b="1">
                <a:latin typeface="Times New Roman" panose="02020603050405020304" charset="0"/>
                <a:cs typeface="Times New Roman" panose="02020603050405020304" charset="0"/>
              </a:rPr>
              <a:t>Standardized Names:</a:t>
            </a:r>
            <a:endParaRPr lang="en-US" altLang="en-US" sz="2000" b="1">
              <a:latin typeface="Times New Roman" panose="02020603050405020304" charset="0"/>
              <a:cs typeface="Times New Roman" panose="02020603050405020304" charset="0"/>
            </a:endParaRPr>
          </a:p>
          <a:p>
            <a:pPr>
              <a:lnSpc>
                <a:spcPct val="150000"/>
              </a:lnSpc>
            </a:pPr>
            <a:r>
              <a:rPr lang="en-US" altLang="en-US" sz="2000">
                <a:latin typeface="Times New Roman" panose="02020603050405020304" charset="0"/>
                <a:cs typeface="Times New Roman" panose="02020603050405020304" charset="0"/>
                <a:sym typeface="+mn-ea"/>
              </a:rPr>
              <a:t>SaleID,SalesDate DrugID, CustomerID, Customer Name, BuyerType, Age, Gender, Country, DrugName, UnitsSold, UnitSalesPrice, CostOfProduction, RegualatorycomplainceId</a:t>
            </a:r>
            <a:endParaRPr lang="en-US" altLang="en-US" sz="2000">
              <a:latin typeface="Times New Roman" panose="02020603050405020304" charset="0"/>
              <a:cs typeface="Times New Roman" panose="02020603050405020304" charset="0"/>
            </a:endParaRPr>
          </a:p>
          <a:p>
            <a:pPr marL="0" indent="0">
              <a:lnSpc>
                <a:spcPct val="150000"/>
              </a:lnSpc>
              <a:buNone/>
            </a:pPr>
            <a:r>
              <a:rPr lang="en-US" altLang="en-US" sz="2000" b="1">
                <a:latin typeface="Times New Roman" panose="02020603050405020304" charset="0"/>
                <a:cs typeface="Times New Roman" panose="02020603050405020304" charset="0"/>
              </a:rPr>
              <a:t>Missing &amp; Error Handling</a:t>
            </a:r>
            <a:endParaRPr lang="en-US" altLang="en-US" sz="2000" b="1">
              <a:latin typeface="Times New Roman" panose="02020603050405020304" charset="0"/>
              <a:cs typeface="Times New Roman" panose="02020603050405020304" charset="0"/>
            </a:endParaRPr>
          </a:p>
          <a:p>
            <a:pPr>
              <a:lnSpc>
                <a:spcPct val="150000"/>
              </a:lnSpc>
            </a:pPr>
            <a:r>
              <a:rPr lang="en-US" altLang="en-US" sz="2000">
                <a:latin typeface="Times New Roman" panose="02020603050405020304" charset="0"/>
                <a:cs typeface="Times New Roman" panose="02020603050405020304" charset="0"/>
              </a:rPr>
              <a:t>Checked entire dataset (Column profiling: Based on entire dataset)</a:t>
            </a:r>
            <a:endParaRPr lang="en-US" altLang="en-US" sz="2000">
              <a:latin typeface="Times New Roman" panose="02020603050405020304" charset="0"/>
              <a:cs typeface="Times New Roman" panose="02020603050405020304" charset="0"/>
            </a:endParaRPr>
          </a:p>
          <a:p>
            <a:pPr>
              <a:lnSpc>
                <a:spcPct val="150000"/>
              </a:lnSpc>
            </a:pPr>
            <a:r>
              <a:rPr lang="en-US" altLang="en-US" sz="2000">
                <a:latin typeface="Times New Roman" panose="02020603050405020304" charset="0"/>
                <a:cs typeface="Times New Roman" panose="02020603050405020304" charset="0"/>
              </a:rPr>
              <a:t>No null, blank, or error values found</a:t>
            </a:r>
            <a:endParaRPr lang="en-US" altLang="en-US" sz="2000">
              <a:latin typeface="Times New Roman" panose="02020603050405020304" charset="0"/>
              <a:cs typeface="Times New Roman" panose="02020603050405020304" charset="0"/>
            </a:endParaRPr>
          </a:p>
          <a:p>
            <a:pPr>
              <a:lnSpc>
                <a:spcPct val="150000"/>
              </a:lnSpc>
            </a:pPr>
            <a:r>
              <a:rPr lang="en-US" altLang="en-US" sz="2000">
                <a:latin typeface="Times New Roman" panose="02020603050405020304" charset="0"/>
                <a:cs typeface="Times New Roman" panose="02020603050405020304" charset="0"/>
              </a:rPr>
              <a:t>No rows were removed or replaced</a:t>
            </a:r>
            <a:endParaRPr lang="en-US" altLang="en-US" sz="2000">
              <a:latin typeface="Times New Roman" panose="02020603050405020304" charset="0"/>
              <a:cs typeface="Times New Roman" panose="02020603050405020304" charset="0"/>
            </a:endParaRPr>
          </a:p>
          <a:p>
            <a:pPr>
              <a:lnSpc>
                <a:spcPct val="150000"/>
              </a:lnSpc>
            </a:pPr>
            <a:r>
              <a:rPr lang="en-US" altLang="en-US" sz="2000">
                <a:latin typeface="Times New Roman" panose="02020603050405020304" charset="0"/>
                <a:cs typeface="Times New Roman" panose="02020603050405020304" charset="0"/>
              </a:rPr>
              <a:t>This ensures high data quality before modeling</a:t>
            </a:r>
            <a:endParaRPr lang="en-US" altLang="en-US" sz="2000">
              <a:latin typeface="Times New Roman" panose="02020603050405020304" charset="0"/>
              <a:cs typeface="Times New Roman" panose="02020603050405020304" charset="0"/>
            </a:endParaRPr>
          </a:p>
          <a:p>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424815"/>
            <a:ext cx="10515600" cy="5752465"/>
          </a:xfrm>
        </p:spPr>
        <p:txBody>
          <a:bodyPr>
            <a:noAutofit/>
          </a:bodyPr>
          <a:p>
            <a:pPr marL="0" indent="0">
              <a:buNone/>
            </a:pPr>
            <a:r>
              <a:rPr lang="en-US" altLang="en-US" sz="2000" b="1">
                <a:latin typeface="Times New Roman" panose="02020603050405020304" charset="0"/>
                <a:cs typeface="Times New Roman" panose="02020603050405020304" charset="0"/>
              </a:rPr>
              <a:t>Data Type Correction</a:t>
            </a:r>
            <a:endParaRPr lang="en-US" altLang="en-US" sz="2000" b="1">
              <a:latin typeface="Times New Roman" panose="02020603050405020304" charset="0"/>
              <a:cs typeface="Times New Roman" panose="02020603050405020304" charset="0"/>
            </a:endParaRPr>
          </a:p>
          <a:p>
            <a:r>
              <a:rPr lang="en-US" altLang="en-US" sz="2000" b="1">
                <a:latin typeface="Times New Roman" panose="02020603050405020304" charset="0"/>
                <a:cs typeface="Times New Roman" panose="02020603050405020304" charset="0"/>
              </a:rPr>
              <a:t>Corrected types:</a:t>
            </a:r>
            <a:endParaRPr lang="en-US" altLang="en-US" sz="2000" b="1">
              <a:latin typeface="Times New Roman" panose="02020603050405020304" charset="0"/>
              <a:cs typeface="Times New Roman" panose="02020603050405020304" charset="0"/>
            </a:endParaRPr>
          </a:p>
          <a:p>
            <a:endParaRPr lang="en-US" altLang="en-US" sz="2000">
              <a:latin typeface="Times New Roman" panose="02020603050405020304" charset="0"/>
              <a:cs typeface="Times New Roman" panose="02020603050405020304" charset="0"/>
            </a:endParaRPr>
          </a:p>
          <a:p>
            <a:pPr lvl="2"/>
            <a:r>
              <a:rPr lang="en-US" altLang="en-US">
                <a:latin typeface="Times New Roman" panose="02020603050405020304" charset="0"/>
                <a:cs typeface="Times New Roman" panose="02020603050405020304" charset="0"/>
              </a:rPr>
              <a:t>SalesDate → Date</a:t>
            </a:r>
            <a:endParaRPr lang="en-US" altLang="en-US">
              <a:latin typeface="Times New Roman" panose="02020603050405020304" charset="0"/>
              <a:cs typeface="Times New Roman" panose="02020603050405020304" charset="0"/>
            </a:endParaRPr>
          </a:p>
          <a:p>
            <a:pPr lvl="2"/>
            <a:r>
              <a:rPr lang="en-US" altLang="en-US">
                <a:latin typeface="Times New Roman" panose="02020603050405020304" charset="0"/>
                <a:cs typeface="Times New Roman" panose="02020603050405020304" charset="0"/>
              </a:rPr>
              <a:t>CustomerID, DrugID → Text</a:t>
            </a:r>
            <a:endParaRPr lang="en-US" altLang="en-US">
              <a:latin typeface="Times New Roman" panose="02020603050405020304" charset="0"/>
              <a:cs typeface="Times New Roman" panose="02020603050405020304" charset="0"/>
            </a:endParaRPr>
          </a:p>
          <a:p>
            <a:pPr lvl="2"/>
            <a:r>
              <a:rPr lang="en-US" altLang="en-US">
                <a:latin typeface="Times New Roman" panose="02020603050405020304" charset="0"/>
                <a:cs typeface="Times New Roman" panose="02020603050405020304" charset="0"/>
              </a:rPr>
              <a:t>UnitsSold → Whole Number</a:t>
            </a:r>
            <a:endParaRPr lang="en-US" altLang="en-US">
              <a:latin typeface="Times New Roman" panose="02020603050405020304" charset="0"/>
              <a:cs typeface="Times New Roman" panose="02020603050405020304" charset="0"/>
            </a:endParaRPr>
          </a:p>
          <a:p>
            <a:pPr lvl="2"/>
            <a:r>
              <a:rPr lang="en-US" altLang="en-US">
                <a:latin typeface="Times New Roman" panose="02020603050405020304" charset="0"/>
                <a:cs typeface="Times New Roman" panose="02020603050405020304" charset="0"/>
              </a:rPr>
              <a:t>UnitPrice, CostPerUnit → Decimal Number</a:t>
            </a:r>
            <a:endParaRPr lang="en-US" altLang="en-US">
              <a:latin typeface="Times New Roman" panose="02020603050405020304" charset="0"/>
              <a:cs typeface="Times New Roman" panose="02020603050405020304" charset="0"/>
            </a:endParaRPr>
          </a:p>
          <a:p>
            <a:pPr marL="0" indent="0">
              <a:buNone/>
            </a:pPr>
            <a:r>
              <a:rPr lang="en-US" altLang="en-US" sz="2000" b="1">
                <a:latin typeface="Times New Roman" panose="02020603050405020304" charset="0"/>
                <a:cs typeface="Times New Roman" panose="02020603050405020304" charset="0"/>
              </a:rPr>
              <a:t>Why:</a:t>
            </a:r>
            <a:endParaRPr lang="en-US" altLang="en-US" sz="2000" b="1">
              <a:latin typeface="Times New Roman" panose="02020603050405020304" charset="0"/>
              <a:cs typeface="Times New Roman" panose="02020603050405020304" charset="0"/>
            </a:endParaRPr>
          </a:p>
          <a:p>
            <a:pPr marL="0" indent="457200">
              <a:buNone/>
            </a:pPr>
            <a:r>
              <a:rPr lang="en-US" altLang="en-US" sz="2000">
                <a:latin typeface="Times New Roman" panose="02020603050405020304" charset="0"/>
                <a:cs typeface="Times New Roman" panose="02020603050405020304" charset="0"/>
              </a:rPr>
              <a:t>✔ Ensures accurate aggregation</a:t>
            </a:r>
            <a:endParaRPr lang="en-US" altLang="en-US" sz="2000">
              <a:latin typeface="Times New Roman" panose="02020603050405020304" charset="0"/>
              <a:cs typeface="Times New Roman" panose="02020603050405020304" charset="0"/>
            </a:endParaRPr>
          </a:p>
          <a:p>
            <a:pPr marL="0" indent="457200">
              <a:buNone/>
            </a:pPr>
            <a:r>
              <a:rPr lang="en-US" altLang="en-US" sz="2000">
                <a:latin typeface="Times New Roman" panose="02020603050405020304" charset="0"/>
                <a:cs typeface="Times New Roman" panose="02020603050405020304" charset="0"/>
              </a:rPr>
              <a:t>✔ Prevents model errors</a:t>
            </a:r>
            <a:endParaRPr lang="en-US" altLang="en-US" sz="2000">
              <a:latin typeface="Times New Roman" panose="02020603050405020304" charset="0"/>
              <a:cs typeface="Times New Roman" panose="02020603050405020304" charset="0"/>
            </a:endParaRPr>
          </a:p>
          <a:p>
            <a:pPr marL="0" indent="457200">
              <a:buNone/>
            </a:pPr>
            <a:r>
              <a:rPr lang="en-US" altLang="en-US" sz="2000">
                <a:latin typeface="Times New Roman" panose="02020603050405020304" charset="0"/>
                <a:cs typeface="Times New Roman" panose="02020603050405020304" charset="0"/>
              </a:rPr>
              <a:t>✔ Helps correct relationships</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 name="Picture 26"/>
          <p:cNvPicPr>
            <a:picLocks noChangeAspect="1"/>
          </p:cNvPicPr>
          <p:nvPr>
            <p:ph idx="1"/>
          </p:nvPr>
        </p:nvPicPr>
        <p:blipFill>
          <a:blip r:embed="rId1"/>
          <a:stretch>
            <a:fillRect/>
          </a:stretch>
        </p:blipFill>
        <p:spPr>
          <a:xfrm>
            <a:off x="0" y="635"/>
            <a:ext cx="12192635" cy="685736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530225"/>
            <a:ext cx="10515600" cy="5647055"/>
          </a:xfrm>
        </p:spPr>
        <p:txBody>
          <a:bodyPr>
            <a:noAutofit/>
          </a:bodyPr>
          <a:p>
            <a:pPr marL="0" indent="0" algn="l">
              <a:buNone/>
            </a:pPr>
            <a:r>
              <a:rPr lang="en-US" altLang="en-US" b="1">
                <a:latin typeface="Times New Roman" panose="02020603050405020304" charset="0"/>
                <a:cs typeface="Times New Roman" panose="02020603050405020304" charset="0"/>
              </a:rPr>
              <a:t>Lookup Table Preparation</a:t>
            </a:r>
            <a:endParaRPr lang="en-US" altLang="en-US" b="1">
              <a:latin typeface="Times New Roman" panose="02020603050405020304" charset="0"/>
              <a:cs typeface="Times New Roman" panose="02020603050405020304" charset="0"/>
            </a:endParaRPr>
          </a:p>
          <a:p>
            <a:pPr marL="0" indent="0" algn="ctr">
              <a:buNone/>
            </a:pPr>
            <a:endParaRPr lang="en-US" altLang="en-US" sz="2400">
              <a:latin typeface="Times New Roman" panose="02020603050405020304" charset="0"/>
              <a:cs typeface="Times New Roman" panose="02020603050405020304" charset="0"/>
            </a:endParaRPr>
          </a:p>
          <a:p>
            <a:pPr>
              <a:buFont typeface="Arial" panose="020B0604020202020204" pitchFamily="34" charset="0"/>
              <a:buChar char="•"/>
            </a:pPr>
            <a:r>
              <a:rPr lang="en-US" altLang="en-US" sz="2000" b="1">
                <a:latin typeface="Times New Roman" panose="02020603050405020304" charset="0"/>
                <a:cs typeface="Times New Roman" panose="02020603050405020304" charset="0"/>
              </a:rPr>
              <a:t>Duplicated main dataset into:</a:t>
            </a:r>
            <a:endParaRPr lang="en-US" altLang="en-US" sz="2000" b="1">
              <a:latin typeface="Times New Roman" panose="02020603050405020304" charset="0"/>
              <a:cs typeface="Times New Roman" panose="02020603050405020304" charset="0"/>
            </a:endParaRPr>
          </a:p>
          <a:p>
            <a:pPr marL="0" indent="457200">
              <a:buNone/>
            </a:pPr>
            <a:r>
              <a:rPr lang="en-US" altLang="en-US" sz="2000">
                <a:latin typeface="Times New Roman" panose="02020603050405020304" charset="0"/>
                <a:cs typeface="Times New Roman" panose="02020603050405020304" charset="0"/>
              </a:rPr>
              <a:t>✔ Customer Lookup</a:t>
            </a:r>
            <a:endParaRPr lang="en-US" altLang="en-US" sz="2000">
              <a:latin typeface="Times New Roman" panose="02020603050405020304" charset="0"/>
              <a:cs typeface="Times New Roman" panose="02020603050405020304" charset="0"/>
            </a:endParaRPr>
          </a:p>
          <a:p>
            <a:pPr marL="0" indent="457200">
              <a:buNone/>
            </a:pPr>
            <a:r>
              <a:rPr lang="en-US" altLang="en-US" sz="2000">
                <a:latin typeface="Times New Roman" panose="02020603050405020304" charset="0"/>
                <a:cs typeface="Times New Roman" panose="02020603050405020304" charset="0"/>
              </a:rPr>
              <a:t>✔ Drug Lookup</a:t>
            </a:r>
            <a:endParaRPr lang="en-US" altLang="en-US" sz="2000">
              <a:latin typeface="Times New Roman" panose="02020603050405020304" charset="0"/>
              <a:cs typeface="Times New Roman" panose="02020603050405020304" charset="0"/>
            </a:endParaRPr>
          </a:p>
          <a:p>
            <a:pPr marL="0" indent="457200">
              <a:buNone/>
            </a:pPr>
            <a:r>
              <a:rPr lang="en-US" altLang="en-US" sz="2000">
                <a:latin typeface="Times New Roman" panose="02020603050405020304" charset="0"/>
                <a:cs typeface="Times New Roman" panose="02020603050405020304" charset="0"/>
              </a:rPr>
              <a:t>✔ Cost Lookup</a:t>
            </a:r>
            <a:endParaRPr lang="en-US" altLang="en-US" sz="2000">
              <a:latin typeface="Times New Roman" panose="02020603050405020304" charset="0"/>
              <a:cs typeface="Times New Roman" panose="02020603050405020304" charset="0"/>
            </a:endParaRPr>
          </a:p>
          <a:p>
            <a:pPr marL="0" indent="457200">
              <a:buNone/>
            </a:pPr>
            <a:r>
              <a:rPr lang="en-US" altLang="en-US" sz="2000">
                <a:latin typeface="Times New Roman" panose="02020603050405020304" charset="0"/>
                <a:cs typeface="Times New Roman" panose="02020603050405020304" charset="0"/>
                <a:sym typeface="+mn-ea"/>
              </a:rPr>
              <a:t>✔ Country Lookup</a:t>
            </a:r>
            <a:endParaRPr lang="en-US" altLang="en-US" sz="2000">
              <a:latin typeface="Times New Roman" panose="02020603050405020304" charset="0"/>
              <a:cs typeface="Times New Roman" panose="02020603050405020304" charset="0"/>
              <a:sym typeface="+mn-ea"/>
            </a:endParaRPr>
          </a:p>
          <a:p>
            <a:pPr marL="0" indent="457200">
              <a:buNone/>
            </a:pPr>
            <a:r>
              <a:rPr lang="en-US" altLang="en-US" sz="2000">
                <a:latin typeface="Times New Roman" panose="02020603050405020304" charset="0"/>
                <a:cs typeface="Times New Roman" panose="02020603050405020304" charset="0"/>
                <a:sym typeface="+mn-ea"/>
              </a:rPr>
              <a:t>✔ Sales Lookup</a:t>
            </a:r>
            <a:endParaRPr lang="en-US" altLang="en-US" sz="2000">
              <a:latin typeface="Times New Roman" panose="02020603050405020304" charset="0"/>
              <a:cs typeface="Times New Roman" panose="02020603050405020304" charset="0"/>
            </a:endParaRPr>
          </a:p>
          <a:p>
            <a:r>
              <a:rPr lang="en-US" altLang="en-US" sz="2000" b="1">
                <a:latin typeface="Times New Roman" panose="02020603050405020304" charset="0"/>
                <a:cs typeface="Times New Roman" panose="02020603050405020304" charset="0"/>
              </a:rPr>
              <a:t>Performed cleaning:</a:t>
            </a:r>
            <a:endParaRPr lang="en-US" altLang="en-US" sz="2000" b="1">
              <a:latin typeface="Times New Roman" panose="02020603050405020304" charset="0"/>
              <a:cs typeface="Times New Roman" panose="02020603050405020304" charset="0"/>
            </a:endParaRPr>
          </a:p>
          <a:p>
            <a:pPr marL="0" indent="457200">
              <a:buNone/>
            </a:pPr>
            <a:r>
              <a:rPr lang="en-US" altLang="en-US" sz="2000">
                <a:latin typeface="Times New Roman" panose="02020603050405020304" charset="0"/>
                <a:cs typeface="Times New Roman" panose="02020603050405020304" charset="0"/>
              </a:rPr>
              <a:t>✔ Removed unnecessary columns</a:t>
            </a:r>
            <a:endParaRPr lang="en-US" altLang="en-US" sz="2000">
              <a:latin typeface="Times New Roman" panose="02020603050405020304" charset="0"/>
              <a:cs typeface="Times New Roman" panose="02020603050405020304" charset="0"/>
            </a:endParaRPr>
          </a:p>
          <a:p>
            <a:pPr marL="0" indent="457200">
              <a:buNone/>
            </a:pPr>
            <a:r>
              <a:rPr lang="en-US" altLang="en-US" sz="2000">
                <a:latin typeface="Times New Roman" panose="02020603050405020304" charset="0"/>
                <a:cs typeface="Times New Roman" panose="02020603050405020304" charset="0"/>
              </a:rPr>
              <a:t>✔ Removed duplicates</a:t>
            </a:r>
            <a:endParaRPr lang="en-US" altLang="en-US" sz="2000">
              <a:latin typeface="Times New Roman" panose="02020603050405020304" charset="0"/>
              <a:cs typeface="Times New Roman" panose="02020603050405020304" charset="0"/>
            </a:endParaRPr>
          </a:p>
          <a:p>
            <a:pPr marL="0" indent="457200">
              <a:buNone/>
            </a:pPr>
            <a:r>
              <a:rPr lang="en-US" altLang="en-US" sz="2000">
                <a:latin typeface="Times New Roman" panose="02020603050405020304" charset="0"/>
                <a:cs typeface="Times New Roman" panose="02020603050405020304" charset="0"/>
              </a:rPr>
              <a:t>✔ Validated row/column count</a:t>
            </a:r>
            <a:endParaRPr lang="en-US" altLang="en-US" sz="2000">
              <a:latin typeface="Times New Roman" panose="02020603050405020304" charset="0"/>
              <a:cs typeface="Times New Roman" panose="02020603050405020304" charset="0"/>
            </a:endParaRPr>
          </a:p>
          <a:p>
            <a:pPr marL="0" indent="457200">
              <a:buNone/>
            </a:pPr>
            <a:r>
              <a:rPr lang="en-US" altLang="en-US" sz="2000">
                <a:latin typeface="Times New Roman" panose="02020603050405020304" charset="0"/>
                <a:cs typeface="Times New Roman" panose="02020603050405020304" charset="0"/>
                <a:sym typeface="+mn-ea"/>
              </a:rPr>
              <a:t>✔ C</a:t>
            </a:r>
            <a:r>
              <a:rPr lang="en-US" altLang="en-US" sz="2000">
                <a:latin typeface="Times New Roman" panose="02020603050405020304" charset="0"/>
                <a:cs typeface="Times New Roman" panose="02020603050405020304" charset="0"/>
              </a:rPr>
              <a:t>heck column profiling</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Lookup tables used as dimensions in star schema</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466725"/>
            <a:ext cx="10515600" cy="5710555"/>
          </a:xfrm>
        </p:spPr>
        <p:txBody>
          <a:bodyPr>
            <a:normAutofit/>
          </a:bodyPr>
          <a:p>
            <a:pPr marL="0" indent="0" algn="l">
              <a:buNone/>
            </a:pPr>
            <a:r>
              <a:rPr lang="en-US" altLang="en-US" b="1">
                <a:latin typeface="Times New Roman" panose="02020603050405020304" charset="0"/>
                <a:cs typeface="Times New Roman" panose="02020603050405020304" charset="0"/>
              </a:rPr>
              <a:t>Merge Queries &amp; Load</a:t>
            </a:r>
            <a:endParaRPr lang="en-US" altLang="en-US" b="1">
              <a:latin typeface="Times New Roman" panose="02020603050405020304" charset="0"/>
              <a:cs typeface="Times New Roman" panose="02020603050405020304" charset="0"/>
            </a:endParaRPr>
          </a:p>
          <a:p>
            <a:pPr marL="0" indent="0" algn="ctr">
              <a:buNone/>
            </a:pPr>
            <a:endParaRPr lang="en-US" altLang="en-US"/>
          </a:p>
          <a:p>
            <a:pPr lvl="3" algn="l">
              <a:lnSpc>
                <a:spcPct val="150000"/>
              </a:lnSpc>
              <a:buFont typeface="Wingdings" panose="05000000000000000000" charset="0"/>
              <a:buChar char="ü"/>
            </a:pPr>
            <a:r>
              <a:rPr lang="en-US" altLang="en-US">
                <a:latin typeface="Times New Roman" panose="02020603050405020304" charset="0"/>
                <a:cs typeface="Times New Roman" panose="02020603050405020304" charset="0"/>
              </a:rPr>
              <a:t>Main fact table merged with lookup tables</a:t>
            </a:r>
            <a:endParaRPr lang="en-US" altLang="en-US">
              <a:latin typeface="Times New Roman" panose="02020603050405020304" charset="0"/>
              <a:cs typeface="Times New Roman" panose="02020603050405020304" charset="0"/>
            </a:endParaRPr>
          </a:p>
          <a:p>
            <a:pPr lvl="3" algn="l">
              <a:lnSpc>
                <a:spcPct val="150000"/>
              </a:lnSpc>
              <a:buFont typeface="Wingdings" panose="05000000000000000000" charset="0"/>
              <a:buChar char="ü"/>
            </a:pPr>
            <a:r>
              <a:rPr lang="en-US" altLang="en-US">
                <a:latin typeface="Times New Roman" panose="02020603050405020304" charset="0"/>
                <a:cs typeface="Times New Roman" panose="02020603050405020304" charset="0"/>
              </a:rPr>
              <a:t>Used Inner Join for accuracy</a:t>
            </a:r>
            <a:endParaRPr lang="en-US" altLang="en-US">
              <a:latin typeface="Times New Roman" panose="02020603050405020304" charset="0"/>
              <a:cs typeface="Times New Roman" panose="02020603050405020304" charset="0"/>
            </a:endParaRPr>
          </a:p>
          <a:p>
            <a:pPr lvl="3" algn="l">
              <a:lnSpc>
                <a:spcPct val="150000"/>
              </a:lnSpc>
              <a:buFont typeface="Wingdings" panose="05000000000000000000" charset="0"/>
              <a:buChar char="ü"/>
            </a:pPr>
            <a:r>
              <a:rPr lang="en-US" altLang="en-US">
                <a:latin typeface="Times New Roman" panose="02020603050405020304" charset="0"/>
                <a:cs typeface="Times New Roman" panose="02020603050405020304" charset="0"/>
              </a:rPr>
              <a:t>Expanded merged tables to fetch related fields</a:t>
            </a:r>
            <a:endParaRPr lang="en-US" altLang="en-US">
              <a:latin typeface="Times New Roman" panose="02020603050405020304" charset="0"/>
              <a:cs typeface="Times New Roman" panose="02020603050405020304" charset="0"/>
            </a:endParaRPr>
          </a:p>
          <a:p>
            <a:pPr lvl="3" algn="l">
              <a:lnSpc>
                <a:spcPct val="150000"/>
              </a:lnSpc>
              <a:buFont typeface="Wingdings" panose="05000000000000000000" charset="0"/>
              <a:buChar char="ü"/>
            </a:pPr>
            <a:r>
              <a:rPr lang="en-US" altLang="en-US">
                <a:latin typeface="Times New Roman" panose="02020603050405020304" charset="0"/>
                <a:cs typeface="Times New Roman" panose="02020603050405020304" charset="0"/>
              </a:rPr>
              <a:t>Verified matching rows count</a:t>
            </a:r>
            <a:endParaRPr lang="en-US" altLang="en-US">
              <a:latin typeface="Times New Roman" panose="02020603050405020304" charset="0"/>
              <a:cs typeface="Times New Roman" panose="02020603050405020304" charset="0"/>
            </a:endParaRPr>
          </a:p>
          <a:p>
            <a:pPr lvl="3" algn="l">
              <a:lnSpc>
                <a:spcPct val="150000"/>
              </a:lnSpc>
              <a:buFont typeface="Wingdings" panose="05000000000000000000" charset="0"/>
              <a:buChar char="ü"/>
            </a:pPr>
            <a:r>
              <a:rPr lang="en-US" altLang="en-US">
                <a:latin typeface="Times New Roman" panose="02020603050405020304" charset="0"/>
                <a:cs typeface="Times New Roman" panose="02020603050405020304" charset="0"/>
                <a:sym typeface="+mn-ea"/>
              </a:rPr>
              <a:t>FactSales table acts as the central fact table connected to all lookup (dimension) tables.</a:t>
            </a:r>
            <a:endParaRPr lang="en-US" altLang="en-US">
              <a:latin typeface="Times New Roman" panose="02020603050405020304" charset="0"/>
              <a:cs typeface="Times New Roman" panose="02020603050405020304" charset="0"/>
            </a:endParaRPr>
          </a:p>
          <a:p>
            <a:pPr lvl="3" algn="l">
              <a:lnSpc>
                <a:spcPct val="150000"/>
              </a:lnSpc>
              <a:buFont typeface="Wingdings" panose="05000000000000000000" charset="0"/>
              <a:buChar char="ü"/>
            </a:pPr>
            <a:r>
              <a:rPr lang="en-US" altLang="en-US">
                <a:latin typeface="Times New Roman" panose="02020603050405020304" charset="0"/>
                <a:cs typeface="Times New Roman" panose="02020603050405020304" charset="0"/>
              </a:rPr>
              <a:t>Ensured Enable Load is ON for the fact table</a:t>
            </a:r>
            <a:endParaRPr lang="en-US" altLang="en-US">
              <a:latin typeface="Times New Roman" panose="02020603050405020304" charset="0"/>
              <a:cs typeface="Times New Roman" panose="02020603050405020304" charset="0"/>
            </a:endParaRPr>
          </a:p>
          <a:p>
            <a:pPr lvl="3" algn="l">
              <a:lnSpc>
                <a:spcPct val="150000"/>
              </a:lnSpc>
              <a:buFont typeface="Wingdings" panose="05000000000000000000" charset="0"/>
              <a:buChar char="ü"/>
            </a:pPr>
            <a:r>
              <a:rPr lang="en-US" altLang="en-US">
                <a:latin typeface="Times New Roman" panose="02020603050405020304" charset="0"/>
                <a:cs typeface="Times New Roman" panose="02020603050405020304" charset="0"/>
              </a:rPr>
              <a:t>Applied all changes via Close &amp; Apply</a:t>
            </a:r>
            <a:endParaRPr lang="en-US" altLang="en-US">
              <a:latin typeface="Times New Roman" panose="02020603050405020304" charset="0"/>
              <a:cs typeface="Times New Roman" panose="02020603050405020304" charset="0"/>
            </a:endParaRPr>
          </a:p>
          <a:p>
            <a:pPr marL="1371600" lvl="3" indent="0">
              <a:lnSpc>
                <a:spcPct val="150000"/>
              </a:lnSpc>
              <a:buFont typeface="Wingdings" panose="05000000000000000000" charset="0"/>
              <a:buNone/>
            </a:pP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25805"/>
          </a:xfrm>
        </p:spPr>
        <p:txBody>
          <a:bodyPr/>
          <a:p>
            <a:r>
              <a:rPr lang="en-US" altLang="en-US" sz="4000" b="1">
                <a:latin typeface="Times New Roman" panose="02020603050405020304" charset="0"/>
                <a:cs typeface="Times New Roman" panose="02020603050405020304" charset="0"/>
              </a:rPr>
              <a:t>Star Schema Diagram</a:t>
            </a:r>
            <a:endParaRPr lang="en-US" altLang="en-US" sz="4000" b="1">
              <a:latin typeface="Times New Roman" panose="02020603050405020304" charset="0"/>
              <a:cs typeface="Times New Roman" panose="02020603050405020304" charset="0"/>
            </a:endParaRPr>
          </a:p>
        </p:txBody>
      </p:sp>
      <p:pic>
        <p:nvPicPr>
          <p:cNvPr id="4" name="Content Placeholder 3"/>
          <p:cNvPicPr>
            <a:picLocks noChangeAspect="1"/>
          </p:cNvPicPr>
          <p:nvPr>
            <p:ph idx="1"/>
          </p:nvPr>
        </p:nvPicPr>
        <p:blipFill>
          <a:blip r:embed="rId1"/>
          <a:stretch>
            <a:fillRect/>
          </a:stretch>
        </p:blipFill>
        <p:spPr>
          <a:xfrm>
            <a:off x="1822450" y="1113790"/>
            <a:ext cx="7493000" cy="506349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sz="4000" b="1">
                <a:latin typeface="Times New Roman" panose="02020603050405020304" charset="0"/>
                <a:cs typeface="Times New Roman" panose="02020603050405020304" charset="0"/>
              </a:rPr>
              <a:t>Date lookup</a:t>
            </a:r>
            <a:endParaRPr lang="en-IN" altLang="en-US" sz="40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pPr algn="just">
              <a:lnSpc>
                <a:spcPct val="150000"/>
              </a:lnSpc>
            </a:pPr>
            <a:r>
              <a:rPr lang="en-US" altLang="en-US" sz="2000">
                <a:latin typeface="Times New Roman" panose="02020603050405020304" charset="0"/>
                <a:cs typeface="Times New Roman" panose="02020603050405020304" charset="0"/>
              </a:rPr>
              <a:t>The main dataset contains only SalesDate and lacks key calendar fields such as Year, Month, Quarter, Week, Month Name, Year-Month, and Day.</a:t>
            </a:r>
            <a:endParaRPr lang="en-US" altLang="en-US" sz="2000">
              <a:latin typeface="Times New Roman" panose="02020603050405020304" charset="0"/>
              <a:cs typeface="Times New Roman" panose="02020603050405020304" charset="0"/>
            </a:endParaRPr>
          </a:p>
          <a:p>
            <a:pPr algn="just">
              <a:lnSpc>
                <a:spcPct val="150000"/>
              </a:lnSpc>
            </a:pPr>
            <a:r>
              <a:rPr lang="en-US" altLang="en-US" sz="2000">
                <a:latin typeface="Times New Roman" panose="02020603050405020304" charset="0"/>
                <a:cs typeface="Times New Roman" panose="02020603050405020304" charset="0"/>
              </a:rPr>
              <a:t>To support advanced time-intelligence and flexible analytics, a separate Date Lookup  table is created.</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1590040" y="455930"/>
            <a:ext cx="8829675" cy="5853430"/>
          </a:xfrm>
          <a:prstGeom prst="rect">
            <a:avLst/>
          </a:prstGeom>
        </p:spPr>
      </p:pic>
      <p:cxnSp>
        <p:nvCxnSpPr>
          <p:cNvPr id="2" name="Straight Arrow Connector 1"/>
          <p:cNvCxnSpPr/>
          <p:nvPr/>
        </p:nvCxnSpPr>
        <p:spPr>
          <a:xfrm flipH="1">
            <a:off x="9413875" y="1898650"/>
            <a:ext cx="1262380" cy="1373505"/>
          </a:xfrm>
          <a:prstGeom prst="straightConnector1">
            <a:avLst/>
          </a:prstGeom>
          <a:ln w="31750" cap="rnd">
            <a:solidFill>
              <a:schemeClr val="accent2"/>
            </a:solidFill>
            <a:round/>
            <a:tailEnd type="arrow" w="med" len="med"/>
          </a:ln>
        </p:spPr>
        <p:style>
          <a:lnRef idx="0">
            <a:srgbClr val="FFFFFF"/>
          </a:lnRef>
          <a:fillRef idx="0">
            <a:srgbClr val="FFFFFF"/>
          </a:fillRef>
          <a:effectRef idx="0">
            <a:srgbClr val="FFFFFF"/>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52705" y="0"/>
            <a:ext cx="12180570" cy="685228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4000" b="1">
                <a:latin typeface="Times New Roman" panose="02020603050405020304" charset="0"/>
                <a:cs typeface="Times New Roman" panose="02020603050405020304" charset="0"/>
              </a:rPr>
              <a:t>REPORT VIEW</a:t>
            </a:r>
            <a:endParaRPr lang="en-US" altLang="en-US" sz="40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pPr>
              <a:lnSpc>
                <a:spcPct val="150000"/>
              </a:lnSpc>
            </a:pPr>
            <a:r>
              <a:rPr lang="en-US" altLang="en-US" sz="2000">
                <a:latin typeface="Times New Roman" panose="02020603050405020304" charset="0"/>
                <a:cs typeface="Times New Roman" panose="02020603050405020304" charset="0"/>
              </a:rPr>
              <a:t>Choose a clean and minimal report layout to maintain clarity and focus.</a:t>
            </a:r>
            <a:endParaRPr lang="en-US" altLang="en-US" sz="2000">
              <a:latin typeface="Times New Roman" panose="02020603050405020304" charset="0"/>
              <a:cs typeface="Times New Roman" panose="02020603050405020304" charset="0"/>
            </a:endParaRPr>
          </a:p>
          <a:p>
            <a:pPr>
              <a:lnSpc>
                <a:spcPct val="150000"/>
              </a:lnSpc>
            </a:pPr>
            <a:r>
              <a:rPr lang="en-US" altLang="en-US" sz="2000">
                <a:latin typeface="Times New Roman" panose="02020603050405020304" charset="0"/>
                <a:cs typeface="Times New Roman" panose="02020603050405020304" charset="0"/>
              </a:rPr>
              <a:t>Use a consistent, professional theme with proper color combinations, fonts, and visual styling.</a:t>
            </a:r>
            <a:endParaRPr lang="en-US" altLang="en-US" sz="2000">
              <a:latin typeface="Times New Roman" panose="02020603050405020304" charset="0"/>
              <a:cs typeface="Times New Roman" panose="02020603050405020304" charset="0"/>
            </a:endParaRPr>
          </a:p>
          <a:p>
            <a:pPr>
              <a:lnSpc>
                <a:spcPct val="150000"/>
              </a:lnSpc>
            </a:pPr>
            <a:r>
              <a:rPr lang="en-US" altLang="en-US" sz="2000">
                <a:latin typeface="Times New Roman" panose="02020603050405020304" charset="0"/>
                <a:cs typeface="Times New Roman" panose="02020603050405020304" charset="0"/>
              </a:rPr>
              <a:t>Arrange all visuals with proper alignment, equal spacing, and grid structure for a balanced look.</a:t>
            </a:r>
            <a:endParaRPr lang="en-US" altLang="en-US" sz="2000">
              <a:latin typeface="Times New Roman" panose="02020603050405020304" charset="0"/>
              <a:cs typeface="Times New Roman" panose="02020603050405020304" charset="0"/>
            </a:endParaRPr>
          </a:p>
          <a:p>
            <a:pPr>
              <a:lnSpc>
                <a:spcPct val="150000"/>
              </a:lnSpc>
            </a:pPr>
            <a:r>
              <a:rPr lang="en-US" altLang="en-US" sz="2000">
                <a:latin typeface="Times New Roman" panose="02020603050405020304" charset="0"/>
                <a:cs typeface="Times New Roman" panose="02020603050405020304" charset="0"/>
              </a:rPr>
              <a:t>Place key KPIs at the top of the report so users can get quick insights at a glance.</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4000" b="1">
                <a:latin typeface="Times New Roman" panose="02020603050405020304" charset="0"/>
                <a:cs typeface="Times New Roman" panose="02020603050405020304" charset="0"/>
              </a:rPr>
              <a:t>Home Page (Navigation Page)</a:t>
            </a:r>
            <a:endParaRPr lang="en-US" altLang="en-US" sz="4000" b="1">
              <a:latin typeface="Times New Roman" panose="02020603050405020304" charset="0"/>
              <a:cs typeface="Times New Roman" panose="02020603050405020304" charset="0"/>
            </a:endParaRPr>
          </a:p>
        </p:txBody>
      </p:sp>
      <p:pic>
        <p:nvPicPr>
          <p:cNvPr id="4" name="Content Placeholder 3"/>
          <p:cNvPicPr>
            <a:picLocks noChangeAspect="1"/>
          </p:cNvPicPr>
          <p:nvPr>
            <p:ph idx="1"/>
          </p:nvPr>
        </p:nvPicPr>
        <p:blipFill>
          <a:blip r:embed="rId1"/>
          <a:srcRect l="7757" t="22632" r="27762" b="15541"/>
          <a:stretch>
            <a:fillRect/>
          </a:stretch>
        </p:blipFill>
        <p:spPr>
          <a:xfrm>
            <a:off x="969645" y="1691005"/>
            <a:ext cx="9451340" cy="509778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0" y="0"/>
            <a:ext cx="12192000" cy="682879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8890" y="0"/>
            <a:ext cx="1218311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0" y="0"/>
            <a:ext cx="12162790" cy="685863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0" y="0"/>
            <a:ext cx="12108180" cy="685736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5715" y="635"/>
            <a:ext cx="12197715" cy="684784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4000" b="1">
                <a:latin typeface="Times New Roman" panose="02020603050405020304" charset="0"/>
                <a:cs typeface="Times New Roman" panose="02020603050405020304" charset="0"/>
              </a:rPr>
              <a:t>Conclusion</a:t>
            </a:r>
            <a:endParaRPr lang="en-US" sz="40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noAutofit/>
          </a:bodyPr>
          <a:p>
            <a:pPr algn="just">
              <a:lnSpc>
                <a:spcPct val="150000"/>
              </a:lnSpc>
            </a:pPr>
            <a:r>
              <a:rPr lang="en-US" altLang="en-US" sz="2000">
                <a:latin typeface="Times New Roman" panose="02020603050405020304" charset="0"/>
                <a:cs typeface="Times New Roman" panose="02020603050405020304" charset="0"/>
              </a:rPr>
              <a:t>The Pharmaceutical Sales &amp; Customer Insights Dashboard provides a complete analytical view of sales performance, customer behavior, profitability, regulatory compliance, and time-based trends.</a:t>
            </a:r>
            <a:endParaRPr lang="en-US" altLang="en-US" sz="2000">
              <a:latin typeface="Times New Roman" panose="02020603050405020304" charset="0"/>
              <a:cs typeface="Times New Roman" panose="02020603050405020304" charset="0"/>
            </a:endParaRPr>
          </a:p>
          <a:p>
            <a:pPr algn="just">
              <a:lnSpc>
                <a:spcPct val="150000"/>
              </a:lnSpc>
            </a:pPr>
            <a:r>
              <a:rPr lang="en-US" altLang="en-US" sz="2000">
                <a:latin typeface="Times New Roman" panose="02020603050405020304" charset="0"/>
                <a:cs typeface="Times New Roman" panose="02020603050405020304" charset="0"/>
              </a:rPr>
              <a:t>By leveraging Power BI, the project transforms raw pharmaceutical sales data into clear, interactive, and actionable insights for business stakeholders.</a:t>
            </a:r>
            <a:endParaRPr lang="en-US" altLang="en-US" sz="2000">
              <a:latin typeface="Times New Roman" panose="02020603050405020304" charset="0"/>
              <a:cs typeface="Times New Roman" panose="02020603050405020304" charset="0"/>
            </a:endParaRPr>
          </a:p>
          <a:p>
            <a:pPr algn="just">
              <a:lnSpc>
                <a:spcPct val="150000"/>
              </a:lnSpc>
            </a:pPr>
            <a:r>
              <a:rPr lang="en-US" altLang="en-US" sz="2000">
                <a:latin typeface="Times New Roman" panose="02020603050405020304" charset="0"/>
                <a:cs typeface="Times New Roman" panose="02020603050405020304" charset="0"/>
              </a:rPr>
              <a:t>The implementation of a star schema data model, date lookup table, and optimized DAX measures ensures high data accuracy, performance, and scalability.</a:t>
            </a:r>
            <a:endParaRPr lang="en-US" altLang="en-US" sz="2000">
              <a:latin typeface="Times New Roman" panose="02020603050405020304" charset="0"/>
              <a:cs typeface="Times New Roman" panose="02020603050405020304" charset="0"/>
            </a:endParaRPr>
          </a:p>
          <a:p>
            <a:pPr algn="just">
              <a:lnSpc>
                <a:spcPct val="150000"/>
              </a:lnSpc>
            </a:pPr>
            <a:r>
              <a:rPr lang="en-US" altLang="en-US" sz="2000">
                <a:latin typeface="Times New Roman" panose="02020603050405020304" charset="0"/>
                <a:cs typeface="Times New Roman" panose="02020603050405020304" charset="0"/>
              </a:rPr>
              <a:t>Interactive KPIs and visuals enable quick identification of top-performing drugs, underperforming products, high-value customer segments, and profitability gaps.</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sz="4000" b="1">
                <a:latin typeface="Times New Roman" panose="02020603050405020304" charset="0"/>
                <a:cs typeface="Times New Roman" panose="02020603050405020304" charset="0"/>
                <a:sym typeface="+mn-ea"/>
              </a:rPr>
              <a:t> Future Enhancements &amp;</a:t>
            </a:r>
            <a:r>
              <a:rPr lang="en-US" altLang="en-US" sz="4000" b="1">
                <a:latin typeface="Times New Roman" panose="02020603050405020304" charset="0"/>
                <a:cs typeface="Times New Roman" panose="02020603050405020304" charset="0"/>
                <a:sym typeface="+mn-ea"/>
              </a:rPr>
              <a:t>Business Impact </a:t>
            </a:r>
            <a:endParaRPr lang="en-US" altLang="en-US" sz="4000" b="1">
              <a:latin typeface="Times New Roman" panose="02020603050405020304" charset="0"/>
              <a:cs typeface="Times New Roman" panose="02020603050405020304" charset="0"/>
              <a:sym typeface="+mn-ea"/>
            </a:endParaRPr>
          </a:p>
        </p:txBody>
      </p:sp>
      <p:sp>
        <p:nvSpPr>
          <p:cNvPr id="5" name="Text Placeholder 4"/>
          <p:cNvSpPr>
            <a:spLocks noGrp="1"/>
          </p:cNvSpPr>
          <p:nvPr>
            <p:ph type="body" idx="1"/>
          </p:nvPr>
        </p:nvSpPr>
        <p:spPr/>
        <p:txBody>
          <a:bodyPr/>
          <a:p>
            <a:r>
              <a:rPr lang="en-US" altLang="en-US">
                <a:latin typeface="Times New Roman" panose="02020603050405020304" charset="0"/>
                <a:cs typeface="Times New Roman" panose="02020603050405020304" charset="0"/>
                <a:sym typeface="+mn-ea"/>
              </a:rPr>
              <a:t>Future Enhancements</a:t>
            </a:r>
            <a:endParaRPr lang="en-US" altLang="en-US">
              <a:latin typeface="Times New Roman" panose="02020603050405020304" charset="0"/>
              <a:cs typeface="Times New Roman" panose="02020603050405020304" charset="0"/>
            </a:endParaRPr>
          </a:p>
          <a:p>
            <a:endParaRPr lang="en-US">
              <a:latin typeface="Times New Roman" panose="02020603050405020304" charset="0"/>
              <a:cs typeface="Times New Roman" panose="02020603050405020304" charset="0"/>
            </a:endParaRPr>
          </a:p>
        </p:txBody>
      </p:sp>
      <p:sp>
        <p:nvSpPr>
          <p:cNvPr id="6" name="Content Placeholder 5"/>
          <p:cNvSpPr>
            <a:spLocks noGrp="1"/>
          </p:cNvSpPr>
          <p:nvPr>
            <p:ph sz="half" idx="2"/>
          </p:nvPr>
        </p:nvSpPr>
        <p:spPr/>
        <p:txBody>
          <a:bodyPr>
            <a:normAutofit/>
          </a:bodyPr>
          <a:p>
            <a:pPr algn="just">
              <a:lnSpc>
                <a:spcPct val="150000"/>
              </a:lnSpc>
            </a:pPr>
            <a:r>
              <a:rPr lang="en-US" altLang="en-US" sz="2000">
                <a:latin typeface="Times New Roman" panose="02020603050405020304" charset="0"/>
                <a:cs typeface="Times New Roman" panose="02020603050405020304" charset="0"/>
              </a:rPr>
              <a:t>Sales forecasting and predictive analytics</a:t>
            </a:r>
            <a:endParaRPr lang="en-US" altLang="en-US" sz="2000">
              <a:latin typeface="Times New Roman" panose="02020603050405020304" charset="0"/>
              <a:cs typeface="Times New Roman" panose="02020603050405020304" charset="0"/>
            </a:endParaRPr>
          </a:p>
          <a:p>
            <a:pPr algn="just">
              <a:lnSpc>
                <a:spcPct val="150000"/>
              </a:lnSpc>
            </a:pPr>
            <a:r>
              <a:rPr lang="en-US" altLang="en-US" sz="2000">
                <a:latin typeface="Times New Roman" panose="02020603050405020304" charset="0"/>
                <a:cs typeface="Times New Roman" panose="02020603050405020304" charset="0"/>
              </a:rPr>
              <a:t>Advanced regulatory compliance monitoring</a:t>
            </a:r>
            <a:endParaRPr lang="en-US" altLang="en-US" sz="2000">
              <a:latin typeface="Times New Roman" panose="02020603050405020304" charset="0"/>
              <a:cs typeface="Times New Roman" panose="02020603050405020304" charset="0"/>
            </a:endParaRPr>
          </a:p>
          <a:p>
            <a:pPr algn="just">
              <a:lnSpc>
                <a:spcPct val="150000"/>
              </a:lnSpc>
            </a:pPr>
            <a:r>
              <a:rPr lang="en-US" altLang="en-US" sz="2000">
                <a:latin typeface="Times New Roman" panose="02020603050405020304" charset="0"/>
                <a:cs typeface="Times New Roman" panose="02020603050405020304" charset="0"/>
              </a:rPr>
              <a:t>Customer Lifetime Value (CLV) analysis</a:t>
            </a:r>
            <a:endParaRPr lang="en-US" altLang="en-US" sz="2000">
              <a:latin typeface="Times New Roman" panose="02020603050405020304" charset="0"/>
              <a:cs typeface="Times New Roman" panose="02020603050405020304" charset="0"/>
            </a:endParaRPr>
          </a:p>
          <a:p>
            <a:pPr algn="just">
              <a:lnSpc>
                <a:spcPct val="150000"/>
              </a:lnSpc>
            </a:pPr>
            <a:r>
              <a:rPr lang="en-US" altLang="en-US" sz="2000">
                <a:latin typeface="Times New Roman" panose="02020603050405020304" charset="0"/>
                <a:cs typeface="Times New Roman" panose="02020603050405020304" charset="0"/>
              </a:rPr>
              <a:t>What-if analysis for pricing and cost scenarios</a:t>
            </a:r>
            <a:endParaRPr lang="en-US" altLang="en-US" sz="2000">
              <a:latin typeface="Times New Roman" panose="02020603050405020304" charset="0"/>
              <a:cs typeface="Times New Roman" panose="02020603050405020304" charset="0"/>
            </a:endParaRPr>
          </a:p>
          <a:p>
            <a:pPr algn="just">
              <a:lnSpc>
                <a:spcPct val="150000"/>
              </a:lnSpc>
            </a:pPr>
            <a:r>
              <a:rPr lang="en-US" altLang="en-US" sz="2000">
                <a:latin typeface="Times New Roman" panose="02020603050405020304" charset="0"/>
                <a:cs typeface="Times New Roman" panose="02020603050405020304" charset="0"/>
              </a:rPr>
              <a:t>Automated refresh and Row-Level Security in Power BI Service</a:t>
            </a:r>
            <a:endParaRPr lang="en-US" altLang="en-US" sz="2000">
              <a:latin typeface="Times New Roman" panose="02020603050405020304" charset="0"/>
              <a:cs typeface="Times New Roman" panose="02020603050405020304" charset="0"/>
            </a:endParaRPr>
          </a:p>
        </p:txBody>
      </p:sp>
      <p:sp>
        <p:nvSpPr>
          <p:cNvPr id="7" name="Text Placeholder 6"/>
          <p:cNvSpPr>
            <a:spLocks noGrp="1"/>
          </p:cNvSpPr>
          <p:nvPr>
            <p:ph type="body" sz="quarter" idx="3"/>
          </p:nvPr>
        </p:nvSpPr>
        <p:spPr/>
        <p:txBody>
          <a:bodyPr/>
          <a:p>
            <a:r>
              <a:rPr lang="en-US" altLang="en-US">
                <a:latin typeface="Times New Roman" panose="02020603050405020304" charset="0"/>
                <a:cs typeface="Times New Roman" panose="02020603050405020304" charset="0"/>
                <a:sym typeface="+mn-ea"/>
              </a:rPr>
              <a:t>Business Impact</a:t>
            </a:r>
            <a:endParaRPr lang="en-US" altLang="en-US">
              <a:latin typeface="Times New Roman" panose="02020603050405020304" charset="0"/>
              <a:cs typeface="Times New Roman" panose="02020603050405020304" charset="0"/>
            </a:endParaRPr>
          </a:p>
          <a:p>
            <a:endParaRPr lang="en-US">
              <a:latin typeface="Times New Roman" panose="02020603050405020304" charset="0"/>
              <a:cs typeface="Times New Roman" panose="02020603050405020304" charset="0"/>
            </a:endParaRPr>
          </a:p>
        </p:txBody>
      </p:sp>
      <p:sp>
        <p:nvSpPr>
          <p:cNvPr id="8" name="Content Placeholder 7"/>
          <p:cNvSpPr>
            <a:spLocks noGrp="1"/>
          </p:cNvSpPr>
          <p:nvPr>
            <p:ph sz="quarter" idx="4"/>
          </p:nvPr>
        </p:nvSpPr>
        <p:spPr>
          <a:xfrm>
            <a:off x="5996940" y="2505075"/>
            <a:ext cx="5358765" cy="3684905"/>
          </a:xfrm>
        </p:spPr>
        <p:txBody>
          <a:bodyPr>
            <a:noAutofit/>
          </a:bodyPr>
          <a:p>
            <a:pPr algn="just">
              <a:lnSpc>
                <a:spcPct val="150000"/>
              </a:lnSpc>
            </a:pPr>
            <a:r>
              <a:rPr lang="en-US" altLang="en-US" sz="1800">
                <a:latin typeface="Times New Roman" panose="02020603050405020304" charset="0"/>
                <a:cs typeface="Times New Roman" panose="02020603050405020304" charset="0"/>
                <a:sym typeface="+mn-ea"/>
              </a:rPr>
              <a:t>Supports data-driven decision-making for pricing, inventory planning, and sales strategy.</a:t>
            </a:r>
            <a:endParaRPr lang="en-US" altLang="en-US" sz="1800">
              <a:latin typeface="Times New Roman" panose="02020603050405020304" charset="0"/>
              <a:cs typeface="Times New Roman" panose="02020603050405020304" charset="0"/>
            </a:endParaRPr>
          </a:p>
          <a:p>
            <a:pPr algn="just">
              <a:lnSpc>
                <a:spcPct val="150000"/>
              </a:lnSpc>
            </a:pPr>
            <a:r>
              <a:rPr lang="en-US" altLang="en-US" sz="1800">
                <a:latin typeface="Times New Roman" panose="02020603050405020304" charset="0"/>
                <a:cs typeface="Times New Roman" panose="02020603050405020304" charset="0"/>
                <a:sym typeface="+mn-ea"/>
              </a:rPr>
              <a:t>Improves understanding of customer demographics and geographic markets.</a:t>
            </a:r>
            <a:endParaRPr lang="en-US" altLang="en-US" sz="1800">
              <a:latin typeface="Times New Roman" panose="02020603050405020304" charset="0"/>
              <a:cs typeface="Times New Roman" panose="02020603050405020304" charset="0"/>
            </a:endParaRPr>
          </a:p>
          <a:p>
            <a:pPr algn="just">
              <a:lnSpc>
                <a:spcPct val="150000"/>
              </a:lnSpc>
            </a:pPr>
            <a:r>
              <a:rPr lang="en-US" altLang="en-US" sz="1800">
                <a:latin typeface="Times New Roman" panose="02020603050405020304" charset="0"/>
                <a:cs typeface="Times New Roman" panose="02020603050405020304" charset="0"/>
                <a:sym typeface="+mn-ea"/>
              </a:rPr>
              <a:t>Enables effective profitability and cost optimization analysis.</a:t>
            </a:r>
            <a:endParaRPr lang="en-US" altLang="en-US" sz="1800">
              <a:latin typeface="Times New Roman" panose="02020603050405020304" charset="0"/>
              <a:cs typeface="Times New Roman" panose="02020603050405020304" charset="0"/>
            </a:endParaRPr>
          </a:p>
          <a:p>
            <a:pPr algn="just">
              <a:lnSpc>
                <a:spcPct val="150000"/>
              </a:lnSpc>
            </a:pPr>
            <a:r>
              <a:rPr lang="en-US" altLang="en-US" sz="1800">
                <a:latin typeface="Times New Roman" panose="02020603050405020304" charset="0"/>
                <a:cs typeface="Times New Roman" panose="02020603050405020304" charset="0"/>
                <a:sym typeface="+mn-ea"/>
              </a:rPr>
              <a:t>Enhances usability through a dedicated Instructions Page and intuitive navigation.</a:t>
            </a:r>
            <a:endParaRPr lang="en-US" altLang="en-US" sz="1800">
              <a:latin typeface="Times New Roman" panose="02020603050405020304" charset="0"/>
              <a:cs typeface="Times New Roman" panose="02020603050405020304" charset="0"/>
            </a:endParaRPr>
          </a:p>
          <a:p>
            <a:pPr algn="just">
              <a:lnSpc>
                <a:spcPct val="150000"/>
              </a:lnSpc>
            </a:pPr>
            <a:endParaRPr lang="en-US" altLang="en-US" sz="1800">
              <a:latin typeface="Times New Roman" panose="02020603050405020304" charset="0"/>
              <a:cs typeface="Times New Roman" panose="0202060305040502030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646170" y="2925445"/>
            <a:ext cx="3514725" cy="848360"/>
          </a:xfrm>
        </p:spPr>
        <p:txBody>
          <a:bodyPr>
            <a:normAutofit fontScale="80000"/>
          </a:bodyPr>
          <a:p>
            <a:pPr marL="0" indent="0">
              <a:buNone/>
            </a:pPr>
            <a:r>
              <a:rPr lang="en-US" sz="5400" b="1"/>
              <a:t>THANKYOU!..</a:t>
            </a:r>
            <a:endParaRPr lang="en-US" sz="5400" b="1"/>
          </a:p>
        </p:txBody>
      </p:sp>
      <p:sp>
        <p:nvSpPr>
          <p:cNvPr id="4" name="Text Box 3"/>
          <p:cNvSpPr txBox="1"/>
          <p:nvPr/>
        </p:nvSpPr>
        <p:spPr>
          <a:xfrm>
            <a:off x="7312660" y="4145280"/>
            <a:ext cx="2012315" cy="857250"/>
          </a:xfrm>
          <a:prstGeom prst="rect">
            <a:avLst/>
          </a:prstGeom>
          <a:noFill/>
        </p:spPr>
        <p:txBody>
          <a:bodyPr wrap="square" rtlCol="0">
            <a:noAutofit/>
          </a:bodyPr>
          <a:p>
            <a:r>
              <a:rPr lang="en-US">
                <a:latin typeface="Times New Roman" panose="02020603050405020304" charset="0"/>
                <a:cs typeface="Times New Roman" panose="02020603050405020304" charset="0"/>
                <a:sym typeface="+mn-ea"/>
              </a:rPr>
              <a:t>K.SINDHU SREE</a:t>
            </a:r>
            <a:endParaRPr lang="en-US">
              <a:latin typeface="Times New Roman" panose="02020603050405020304" charset="0"/>
              <a:cs typeface="Times New Roman" panose="02020603050405020304" charset="0"/>
            </a:endParaRPr>
          </a:p>
          <a:p>
            <a:r>
              <a:rPr lang="en-US" b="1">
                <a:latin typeface="Times New Roman" panose="02020603050405020304" charset="0"/>
                <a:cs typeface="Times New Roman" panose="02020603050405020304" charset="0"/>
              </a:rPr>
              <a:t>  Presented by</a:t>
            </a:r>
            <a:endParaRPr lang="en-US" b="1">
              <a:latin typeface="Times New Roman" panose="02020603050405020304" charset="0"/>
              <a:cs typeface="Times New Roman" panose="02020603050405020304" charset="0"/>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1_1"/>
  <p:tag name="KSO_WM_UNIT_ID" val="diagram20238430_1*m_i*1_1"/>
  <p:tag name="KSO_WM_TEMPLATE_CATEGORY" val="diagram"/>
  <p:tag name="KSO_WM_TEMPLATE_INDEX" val="20238430"/>
  <p:tag name="KSO_WM_UNIT_LAYERLEVEL" val="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6"/>
  <p:tag name="KSO_WM_DIAGRAM_VIRTUALLY_FRAME" val="{&quot;height&quot;:377.05,&quot;left&quot;:75.5,&quot;top&quot;:120.6,&quot;width&quot;:772.2}"/>
  <p:tag name="KSO_WM_DIAGRAM_COLOR_MATCH_VALUE" val="{&quot;shape&quot;:{&quot;fill&quot;:{&quot;gradient&quot;:[{&quot;brightness&quot;:0.6000000238418579,&quot;colorType&quot;:1,&quot;foreColorIndex&quot;:5,&quot;pos&quot;:0,&quot;transparency&quot;:0},{&quot;brightness&quot;:0.8500000238418579,&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1_1"/>
  <p:tag name="KSO_WM_UNIT_ID" val="diagram20238430_1*m_h_a*1_1_1"/>
  <p:tag name="KSO_WM_TEMPLATE_CATEGORY" val="diagram"/>
  <p:tag name="KSO_WM_TEMPLATE_INDEX" val="20238430"/>
  <p:tag name="KSO_WM_UNIT_LAYERLEVEL" val="1_1_1"/>
  <p:tag name="KSO_WM_TAG_VERSION" val="3.0"/>
  <p:tag name="KSO_WM_BEAUTIFY_FLAG" val="#wm#"/>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6"/>
  <p:tag name="KSO_WM_DIAGRAM_MIN_ITEMCNT" val="6"/>
  <p:tag name="KSO_WM_DIAGRAM_VIRTUALLY_FRAME" val="{&quot;height&quot;:377.05,&quot;left&quot;:75.5,&quot;top&quot;:120.6,&quot;width&quot;:772.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DIAGRAM_USE_COLOR_VALUE" val="{&quot;color_scheme&quot;:1,&quot;color_type&quot;:1,&quot;theme_color_indexes&quot;:[]}"/>
</p:tagLst>
</file>

<file path=ppt/tags/tag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8430_1*m_h_f*1_1_1"/>
  <p:tag name="KSO_WM_TEMPLATE_CATEGORY" val="diagram"/>
  <p:tag name="KSO_WM_TEMPLATE_INDEX" val="20238430"/>
  <p:tag name="KSO_WM_UNIT_LAYERLEVEL" val="1_1_1"/>
  <p:tag name="KSO_WM_TAG_VERSION" val="3.0"/>
  <p:tag name="KSO_WM_BEAUTIFY_FLAG" val="#wm#"/>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6"/>
  <p:tag name="KSO_WM_DIAGRAM_MIN_ITEMCNT" val="6"/>
  <p:tag name="KSO_WM_DIAGRAM_VIRTUALLY_FRAME" val="{&quot;height&quot;:377.05,&quot;left&quot;:75.5,&quot;top&quot;:120.6,&quot;width&quot;:772.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Click here to add text"/>
  <p:tag name="KSO_WM_UNIT_TEXT_FILL_FORE_SCHEMECOLOR_INDEX" val="1"/>
  <p:tag name="KSO_WM_UNIT_TEXT_FILL_TYPE" val="1"/>
  <p:tag name="KSO_WM_DIAGRAM_USE_COLOR_VALUE" val="{&quot;color_scheme&quot;:1,&quot;color_type&quot;:1,&quot;theme_color_indexes&quot;:[]}"/>
</p:tagLst>
</file>

<file path=ppt/tags/tag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3_1"/>
  <p:tag name="KSO_WM_UNIT_ID" val="diagram20238430_1*m_h_a*1_3_1"/>
  <p:tag name="KSO_WM_TEMPLATE_CATEGORY" val="diagram"/>
  <p:tag name="KSO_WM_TEMPLATE_INDEX" val="20238430"/>
  <p:tag name="KSO_WM_UNIT_LAYERLEVEL" val="1_1_1"/>
  <p:tag name="KSO_WM_TAG_VERSION" val="3.0"/>
  <p:tag name="KSO_WM_BEAUTIFY_FLAG" val="#wm#"/>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6"/>
  <p:tag name="KSO_WM_DIAGRAM_MIN_ITEMCNT" val="6"/>
  <p:tag name="KSO_WM_DIAGRAM_VIRTUALLY_FRAME" val="{&quot;height&quot;:377.05,&quot;left&quot;:75.5,&quot;top&quot;:120.6,&quot;width&quot;:772.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DIAGRAM_USE_COLOR_VALUE" val="{&quot;color_scheme&quot;:1,&quot;color_type&quot;:1,&quot;theme_color_indexes&quot;:[]}"/>
</p:tagLst>
</file>

<file path=ppt/tags/tag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8430_1*m_h_f*1_3_1"/>
  <p:tag name="KSO_WM_TEMPLATE_CATEGORY" val="diagram"/>
  <p:tag name="KSO_WM_TEMPLATE_INDEX" val="20238430"/>
  <p:tag name="KSO_WM_UNIT_LAYERLEVEL" val="1_1_1"/>
  <p:tag name="KSO_WM_TAG_VERSION" val="3.0"/>
  <p:tag name="KSO_WM_BEAUTIFY_FLAG" val="#wm#"/>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6"/>
  <p:tag name="KSO_WM_DIAGRAM_MIN_ITEMCNT" val="6"/>
  <p:tag name="KSO_WM_DIAGRAM_VIRTUALLY_FRAME" val="{&quot;height&quot;:377.05,&quot;left&quot;:75.5,&quot;top&quot;:120.6,&quot;width&quot;:772.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Click here to add text"/>
  <p:tag name="KSO_WM_UNIT_TEXT_FILL_FORE_SCHEMECOLOR_INDEX" val="1"/>
  <p:tag name="KSO_WM_UNIT_TEXT_FILL_TYPE" val="1"/>
  <p:tag name="KSO_WM_DIAGRAM_USE_COLOR_VALUE" val="{&quot;color_scheme&quot;:1,&quot;color_type&quot;:1,&quot;theme_color_indexes&quot;:[]}"/>
</p:tagLst>
</file>

<file path=ppt/tags/tag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5_1"/>
  <p:tag name="KSO_WM_UNIT_ID" val="diagram20238430_1*m_h_a*1_5_1"/>
  <p:tag name="KSO_WM_TEMPLATE_CATEGORY" val="diagram"/>
  <p:tag name="KSO_WM_TEMPLATE_INDEX" val="20238430"/>
  <p:tag name="KSO_WM_UNIT_LAYERLEVEL" val="1_1_1"/>
  <p:tag name="KSO_WM_TAG_VERSION" val="3.0"/>
  <p:tag name="KSO_WM_BEAUTIFY_FLAG" val="#wm#"/>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6"/>
  <p:tag name="KSO_WM_DIAGRAM_MIN_ITEMCNT" val="6"/>
  <p:tag name="KSO_WM_DIAGRAM_VIRTUALLY_FRAME" val="{&quot;height&quot;:377.05,&quot;left&quot;:75.5,&quot;top&quot;:120.6,&quot;width&quot;:772.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DIAGRAM_USE_COLOR_VALUE" val="{&quot;color_scheme&quot;:1,&quot;color_type&quot;:1,&quot;theme_color_indexes&quot;:[]}"/>
</p:tagLst>
</file>

<file path=ppt/tags/tag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5_1"/>
  <p:tag name="KSO_WM_UNIT_ID" val="diagram20238430_1*m_h_f*1_5_1"/>
  <p:tag name="KSO_WM_TEMPLATE_CATEGORY" val="diagram"/>
  <p:tag name="KSO_WM_TEMPLATE_INDEX" val="20238430"/>
  <p:tag name="KSO_WM_UNIT_LAYERLEVEL" val="1_1_1"/>
  <p:tag name="KSO_WM_TAG_VERSION" val="3.0"/>
  <p:tag name="KSO_WM_BEAUTIFY_FLAG" val="#wm#"/>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6"/>
  <p:tag name="KSO_WM_DIAGRAM_MIN_ITEMCNT" val="6"/>
  <p:tag name="KSO_WM_DIAGRAM_VIRTUALLY_FRAME" val="{&quot;height&quot;:377.05,&quot;left&quot;:75.5,&quot;top&quot;:120.6,&quot;width&quot;:772.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Click here to add text"/>
  <p:tag name="KSO_WM_UNIT_TEXT_FILL_FORE_SCHEMECOLOR_INDEX" val="1"/>
  <p:tag name="KSO_WM_UNIT_TEXT_FILL_TYPE" val="1"/>
  <p:tag name="KSO_WM_DIAGRAM_USE_COLOR_VALUE" val="{&quot;color_scheme&quot;:1,&quot;color_type&quot;:1,&quot;theme_color_indexes&quot;:[]}"/>
</p:tagLst>
</file>

<file path=ppt/tags/tag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4_1"/>
  <p:tag name="KSO_WM_UNIT_ID" val="diagram20238430_1*m_h_a*1_4_1"/>
  <p:tag name="KSO_WM_TEMPLATE_CATEGORY" val="diagram"/>
  <p:tag name="KSO_WM_TEMPLATE_INDEX" val="20238430"/>
  <p:tag name="KSO_WM_UNIT_LAYERLEVEL" val="1_1_1"/>
  <p:tag name="KSO_WM_TAG_VERSION" val="3.0"/>
  <p:tag name="KSO_WM_BEAUTIFY_FLAG" val="#wm#"/>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6"/>
  <p:tag name="KSO_WM_DIAGRAM_MIN_ITEMCNT" val="6"/>
  <p:tag name="KSO_WM_DIAGRAM_VIRTUALLY_FRAME" val="{&quot;height&quot;:377.05,&quot;left&quot;:75.5,&quot;top&quot;:120.6,&quot;width&quot;:772.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DIAGRAM_USE_COLOR_VALUE" val="{&quot;color_scheme&quot;:1,&quot;color_type&quot;:1,&quot;theme_color_indexes&quot;:[]}"/>
</p:tagLst>
</file>

<file path=ppt/tags/tag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4_1"/>
  <p:tag name="KSO_WM_UNIT_ID" val="diagram20238430_1*m_h_f*1_4_1"/>
  <p:tag name="KSO_WM_TEMPLATE_CATEGORY" val="diagram"/>
  <p:tag name="KSO_WM_TEMPLATE_INDEX" val="20238430"/>
  <p:tag name="KSO_WM_UNIT_LAYERLEVEL" val="1_1_1"/>
  <p:tag name="KSO_WM_TAG_VERSION" val="3.0"/>
  <p:tag name="KSO_WM_BEAUTIFY_FLAG" val="#wm#"/>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6"/>
  <p:tag name="KSO_WM_DIAGRAM_MIN_ITEMCNT" val="6"/>
  <p:tag name="KSO_WM_DIAGRAM_VIRTUALLY_FRAME" val="{&quot;height&quot;:377.05,&quot;left&quot;:75.5,&quot;top&quot;:120.6,&quot;width&quot;:772.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Click here to add text"/>
  <p:tag name="KSO_WM_UNIT_TEXT_FILL_FORE_SCHEMECOLOR_INDEX" val="1"/>
  <p:tag name="KSO_WM_UNIT_TEXT_FILL_TYPE" val="1"/>
  <p:tag name="KSO_WM_DIAGRAM_USE_COLOR_VALUE" val="{&quot;color_scheme&quot;:1,&quot;color_type&quot;:1,&quot;theme_color_indexes&quot;:[]}"/>
</p:tagLst>
</file>

<file path=ppt/tags/tag1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6_1"/>
  <p:tag name="KSO_WM_UNIT_ID" val="diagram20238430_1*m_h_a*1_6_1"/>
  <p:tag name="KSO_WM_TEMPLATE_CATEGORY" val="diagram"/>
  <p:tag name="KSO_WM_TEMPLATE_INDEX" val="20238430"/>
  <p:tag name="KSO_WM_UNIT_LAYERLEVEL" val="1_1_1"/>
  <p:tag name="KSO_WM_TAG_VERSION" val="3.0"/>
  <p:tag name="KSO_WM_BEAUTIFY_FLAG" val="#wm#"/>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6"/>
  <p:tag name="KSO_WM_DIAGRAM_MIN_ITEMCNT" val="6"/>
  <p:tag name="KSO_WM_DIAGRAM_VIRTUALLY_FRAME" val="{&quot;height&quot;:377.05,&quot;left&quot;:75.5,&quot;top&quot;:120.6,&quot;width&quot;:772.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DIAGRAM_USE_COLOR_VALUE" val="{&quot;color_scheme&quot;:1,&quot;color_type&quot;:1,&quot;theme_color_indexes&quot;:[]}"/>
</p:tagLst>
</file>

<file path=ppt/tags/tag1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6_1"/>
  <p:tag name="KSO_WM_UNIT_ID" val="diagram20238430_1*m_h_f*1_6_1"/>
  <p:tag name="KSO_WM_TEMPLATE_CATEGORY" val="diagram"/>
  <p:tag name="KSO_WM_TEMPLATE_INDEX" val="20238430"/>
  <p:tag name="KSO_WM_UNIT_LAYERLEVEL" val="1_1_1"/>
  <p:tag name="KSO_WM_TAG_VERSION" val="3.0"/>
  <p:tag name="KSO_WM_BEAUTIFY_FLAG" val="#wm#"/>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6"/>
  <p:tag name="KSO_WM_DIAGRAM_MIN_ITEMCNT" val="6"/>
  <p:tag name="KSO_WM_DIAGRAM_VIRTUALLY_FRAME" val="{&quot;height&quot;:377.05,&quot;left&quot;:75.5,&quot;top&quot;:120.6,&quot;width&quot;:772.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Click here to add text"/>
  <p:tag name="KSO_WM_UNIT_TEXT_FILL_FORE_SCHEMECOLOR_INDEX" val="1"/>
  <p:tag name="KSO_WM_UNIT_TEXT_FILL_TYPE" val="1"/>
  <p:tag name="KSO_WM_DIAGRAM_USE_COLOR_VALUE" val="{&quot;color_scheme&quot;:1,&quot;color_type&quot;:1,&quot;theme_color_indexes&quot;:[]}"/>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1_2"/>
  <p:tag name="KSO_WM_UNIT_ID" val="diagram20238430_1*m_i*1_2"/>
  <p:tag name="KSO_WM_TEMPLATE_CATEGORY" val="diagram"/>
  <p:tag name="KSO_WM_TEMPLATE_INDEX" val="20238430"/>
  <p:tag name="KSO_WM_UNIT_LAYERLEVEL" val="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6"/>
  <p:tag name="KSO_WM_DIAGRAM_VIRTUALLY_FRAME" val="{&quot;height&quot;:377.05,&quot;left&quot;:75.5,&quot;top&quot;:120.6,&quot;width&quot;:772.2}"/>
  <p:tag name="KSO_WM_DIAGRAM_COLOR_MATCH_VALUE" val="{&quot;shape&quot;:{&quot;fill&quot;:{&quot;gradient&quot;:[{&quot;brightness&quot;:-0.05000000074505806,&quot;colorType&quot;:1,&quot;foreColorIndex&quot;:14,&quot;pos&quot;:0.3199999928474426,&quot;transparency&quot;:0},{&quot;brightness&quot;:-0.10000000149011612,&quot;colorType&quot;:1,&quot;foreColorIndex&quot;:14,&quot;pos&quot;:0,&quot;transparency&quot;:0},{&quot;brightness&quot;:0,&quot;colorType&quot;:1,&quot;foreColorIndex&quot;:14,&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1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2_1"/>
  <p:tag name="KSO_WM_UNIT_ID" val="diagram20238430_1*m_h_a*1_2_1"/>
  <p:tag name="KSO_WM_TEMPLATE_CATEGORY" val="diagram"/>
  <p:tag name="KSO_WM_TEMPLATE_INDEX" val="20238430"/>
  <p:tag name="KSO_WM_UNIT_LAYERLEVEL" val="1_1_1"/>
  <p:tag name="KSO_WM_TAG_VERSION" val="3.0"/>
  <p:tag name="KSO_WM_BEAUTIFY_FLAG" val="#wm#"/>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6"/>
  <p:tag name="KSO_WM_DIAGRAM_MIN_ITEMCNT" val="6"/>
  <p:tag name="KSO_WM_DIAGRAM_VIRTUALLY_FRAME" val="{&quot;height&quot;:377.05,&quot;left&quot;:75.5,&quot;top&quot;:120.6,&quot;width&quot;:772.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DIAGRAM_USE_COLOR_VALUE" val="{&quot;color_scheme&quot;:1,&quot;color_type&quot;:1,&quot;theme_color_indexes&quot;:[]}"/>
</p:tagLst>
</file>

<file path=ppt/tags/tag1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8430_1*m_h_f*1_2_1"/>
  <p:tag name="KSO_WM_TEMPLATE_CATEGORY" val="diagram"/>
  <p:tag name="KSO_WM_TEMPLATE_INDEX" val="20238430"/>
  <p:tag name="KSO_WM_UNIT_LAYERLEVEL" val="1_1_1"/>
  <p:tag name="KSO_WM_TAG_VERSION" val="3.0"/>
  <p:tag name="KSO_WM_BEAUTIFY_FLAG" val="#wm#"/>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6"/>
  <p:tag name="KSO_WM_DIAGRAM_MIN_ITEMCNT" val="6"/>
  <p:tag name="KSO_WM_DIAGRAM_VIRTUALLY_FRAME" val="{&quot;height&quot;:377.05,&quot;left&quot;:75.5,&quot;top&quot;:120.6,&quot;width&quot;:772.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Click here to add text"/>
  <p:tag name="KSO_WM_UNIT_TEXT_FILL_FORE_SCHEMECOLOR_INDEX" val="1"/>
  <p:tag name="KSO_WM_UNIT_TEXT_FILL_TYPE" val="1"/>
  <p:tag name="KSO_WM_DIAGRAM_USE_COLOR_VALUE" val="{&quot;color_scheme&quot;:1,&quot;color_type&quot;:1,&quot;theme_color_indexes&quot;:[]}"/>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6_1"/>
  <p:tag name="KSO_WM_UNIT_ID" val="diagram20238430_1*m_h_i*1_6_1"/>
  <p:tag name="KSO_WM_TEMPLATE_CATEGORY" val="diagram"/>
  <p:tag name="KSO_WM_TEMPLATE_INDEX" val="20238430"/>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6"/>
  <p:tag name="KSO_WM_DIAGRAM_VIRTUALLY_FRAME" val="{&quot;height&quot;:377.05,&quot;left&quot;:75.5,&quot;top&quot;:120.6,&quot;width&quot;:772.2}"/>
  <p:tag name="KSO_WM_DIAGRAM_COLOR_MATCH_VALUE" val="{&quot;shape&quot;:{&quot;fill&quot;:{&quot;gradient&quot;:[{&quot;brightness&quot;:0.25,&quot;colorType&quot;:1,&quot;foreColorIndex&quot;:5,&quot;pos&quot;:0.4399999976158142,&quot;transparency&quot;:0},{&quot;brightness&quot;:0.6000000238418579,&quot;colorType&quot;:1,&quot;foreColorIndex&quot;:5,&quot;pos&quot;:0,&quot;transparency&quot;:0},{&quot;brightness&quot;:0,&quot;colorType&quot;:1,&quot;foreColorIndex&quot;:5,&quot;pos&quot;:0.6600000262260437,&quot;transparency&quot;:0},{&quot;brightness&quot;:0,&quot;colorType&quot;:1,&quot;foreColorIndex&quot;:5,&quot;pos&quot;:1,&quot;transparency&quot;:0}],&quot;type&quot;:3},&quot;glow&quot;:{&quot;colorType&quot;:0},&quot;line&quot;:{&quot;gradient&quot;:[{&quot;brightness&quot;:1,&quot;colorType&quot;:1,&quot;foreColorIndex&quot;:5,&quot;pos&quot;:0.3700000047683716,&quot;transparency&quot;:0},{&quot;brightness&quot;:0.550000011920929,&quot;colorType&quot;:1,&quot;foreColorIndex&quot;:5,&quot;pos&quot;:0,&quot;transparency&quot;:0},{&quot;brightness&quot;:1,&quot;colorType&quot;:1,&quot;foreColorIndex&quot;:5,&quot;pos&quot;:1,&quot;transparency&quot;:0},{&quot;brightness&quot;:0.699999988079071,&quot;colorType&quot;:1,&quot;foreColorIndex&quot;:5,&quot;pos&quot;:0.7099999785423279,&quot;transparency&quot;:0}],&quot;type&quot;:2},&quot;shadow&quot;:{&quot;brightness&quot;:-0.25,&quot;colorType&quot;:1,&quot;foreColorIndex&quot;:5,&quot;transparency&quot;:0.8100000023841858},&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6"/>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38430_1*m_h_i*1_1_1"/>
  <p:tag name="KSO_WM_TEMPLATE_CATEGORY" val="diagram"/>
  <p:tag name="KSO_WM_TEMPLATE_INDEX" val="20238430"/>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6"/>
  <p:tag name="KSO_WM_DIAGRAM_VIRTUALLY_FRAME" val="{&quot;height&quot;:377.05,&quot;left&quot;:75.5,&quot;top&quot;:120.6,&quot;width&quot;:772.2}"/>
  <p:tag name="KSO_WM_DIAGRAM_COLOR_MATCH_VALUE" val="{&quot;shape&quot;:{&quot;fill&quot;:{&quot;gradient&quot;:[{&quot;brightness&quot;:0.25,&quot;colorType&quot;:1,&quot;foreColorIndex&quot;:5,&quot;pos&quot;:0.4399999976158142,&quot;transparency&quot;:0},{&quot;brightness&quot;:0.6000000238418579,&quot;colorType&quot;:1,&quot;foreColorIndex&quot;:5,&quot;pos&quot;:0,&quot;transparency&quot;:0},{&quot;brightness&quot;:0,&quot;colorType&quot;:1,&quot;foreColorIndex&quot;:5,&quot;pos&quot;:0.6600000262260437,&quot;transparency&quot;:0},{&quot;brightness&quot;:0,&quot;colorType&quot;:1,&quot;foreColorIndex&quot;:5,&quot;pos&quot;:1,&quot;transparency&quot;:0}],&quot;type&quot;:3},&quot;glow&quot;:{&quot;colorType&quot;:0},&quot;line&quot;:{&quot;gradient&quot;:[{&quot;brightness&quot;:1,&quot;colorType&quot;:1,&quot;foreColorIndex&quot;:5,&quot;pos&quot;:0.3700000047683716,&quot;transparency&quot;:0},{&quot;brightness&quot;:0.550000011920929,&quot;colorType&quot;:1,&quot;foreColorIndex&quot;:5,&quot;pos&quot;:0,&quot;transparency&quot;:0},{&quot;brightness&quot;:1,&quot;colorType&quot;:1,&quot;foreColorIndex&quot;:5,&quot;pos&quot;:1,&quot;transparency&quot;:0},{&quot;brightness&quot;:0.699999988079071,&quot;colorType&quot;:1,&quot;foreColorIndex&quot;:5,&quot;pos&quot;:0.7099999785423279,&quot;transparency&quot;:0}],&quot;type&quot;:2},&quot;shadow&quot;:{&quot;brightness&quot;:-0.25,&quot;colorType&quot;:1,&quot;foreColorIndex&quot;:5,&quot;transparency&quot;:0.8100000023841858},&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1"/>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2_1"/>
  <p:tag name="KSO_WM_UNIT_ID" val="diagram20238430_1*m_h_i*1_2_1"/>
  <p:tag name="KSO_WM_TEMPLATE_CATEGORY" val="diagram"/>
  <p:tag name="KSO_WM_TEMPLATE_INDEX" val="20238430"/>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6"/>
  <p:tag name="KSO_WM_DIAGRAM_VIRTUALLY_FRAME" val="{&quot;height&quot;:377.05,&quot;left&quot;:75.5,&quot;top&quot;:120.6,&quot;width&quot;:772.2}"/>
  <p:tag name="KSO_WM_DIAGRAM_COLOR_MATCH_VALUE" val="{&quot;shape&quot;:{&quot;fill&quot;:{&quot;gradient&quot;:[{&quot;brightness&quot;:0.25,&quot;colorType&quot;:1,&quot;foreColorIndex&quot;:5,&quot;pos&quot;:0.4399999976158142,&quot;transparency&quot;:0},{&quot;brightness&quot;:0.6000000238418579,&quot;colorType&quot;:1,&quot;foreColorIndex&quot;:5,&quot;pos&quot;:0,&quot;transparency&quot;:0},{&quot;brightness&quot;:0,&quot;colorType&quot;:1,&quot;foreColorIndex&quot;:5,&quot;pos&quot;:0.6600000262260437,&quot;transparency&quot;:0},{&quot;brightness&quot;:0,&quot;colorType&quot;:1,&quot;foreColorIndex&quot;:5,&quot;pos&quot;:1,&quot;transparency&quot;:0}],&quot;type&quot;:3},&quot;glow&quot;:{&quot;colorType&quot;:0},&quot;line&quot;:{&quot;gradient&quot;:[{&quot;brightness&quot;:1,&quot;colorType&quot;:1,&quot;foreColorIndex&quot;:5,&quot;pos&quot;:0.3700000047683716,&quot;transparency&quot;:0},{&quot;brightness&quot;:0.550000011920929,&quot;colorType&quot;:1,&quot;foreColorIndex&quot;:5,&quot;pos&quot;:0,&quot;transparency&quot;:0},{&quot;brightness&quot;:1,&quot;colorType&quot;:1,&quot;foreColorIndex&quot;:5,&quot;pos&quot;:1,&quot;transparency&quot;:0},{&quot;brightness&quot;:0.699999988079071,&quot;colorType&quot;:1,&quot;foreColorIndex&quot;:5,&quot;pos&quot;:0.7099999785423279,&quot;transparency&quot;:0}],&quot;type&quot;:2},&quot;shadow&quot;:{&quot;brightness&quot;:-0.25,&quot;colorType&quot;:1,&quot;foreColorIndex&quot;:5,&quot;transparency&quot;:0.8100000023841858},&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2"/>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3_1"/>
  <p:tag name="KSO_WM_UNIT_ID" val="diagram20238430_1*m_h_i*1_3_1"/>
  <p:tag name="KSO_WM_TEMPLATE_CATEGORY" val="diagram"/>
  <p:tag name="KSO_WM_TEMPLATE_INDEX" val="20238430"/>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6"/>
  <p:tag name="KSO_WM_DIAGRAM_VIRTUALLY_FRAME" val="{&quot;height&quot;:377.05,&quot;left&quot;:75.5,&quot;top&quot;:120.6,&quot;width&quot;:772.2}"/>
  <p:tag name="KSO_WM_DIAGRAM_COLOR_MATCH_VALUE" val="{&quot;shape&quot;:{&quot;fill&quot;:{&quot;gradient&quot;:[{&quot;brightness&quot;:0.25,&quot;colorType&quot;:1,&quot;foreColorIndex&quot;:5,&quot;pos&quot;:0.4399999976158142,&quot;transparency&quot;:0},{&quot;brightness&quot;:0.6000000238418579,&quot;colorType&quot;:1,&quot;foreColorIndex&quot;:5,&quot;pos&quot;:0,&quot;transparency&quot;:0},{&quot;brightness&quot;:0,&quot;colorType&quot;:1,&quot;foreColorIndex&quot;:5,&quot;pos&quot;:0.6600000262260437,&quot;transparency&quot;:0},{&quot;brightness&quot;:0,&quot;colorType&quot;:1,&quot;foreColorIndex&quot;:5,&quot;pos&quot;:1,&quot;transparency&quot;:0}],&quot;type&quot;:3},&quot;glow&quot;:{&quot;colorType&quot;:0},&quot;line&quot;:{&quot;gradient&quot;:[{&quot;brightness&quot;:1,&quot;colorType&quot;:1,&quot;foreColorIndex&quot;:5,&quot;pos&quot;:0.3700000047683716,&quot;transparency&quot;:0},{&quot;brightness&quot;:0.550000011920929,&quot;colorType&quot;:1,&quot;foreColorIndex&quot;:5,&quot;pos&quot;:0,&quot;transparency&quot;:0},{&quot;brightness&quot;:1,&quot;colorType&quot;:1,&quot;foreColorIndex&quot;:5,&quot;pos&quot;:1,&quot;transparency&quot;:0},{&quot;brightness&quot;:0.699999988079071,&quot;colorType&quot;:1,&quot;foreColorIndex&quot;:5,&quot;pos&quot;:0.7099999785423279,&quot;transparency&quot;:0}],&quot;type&quot;:2},&quot;shadow&quot;:{&quot;brightness&quot;:-0.25,&quot;colorType&quot;:1,&quot;foreColorIndex&quot;:5,&quot;transparency&quot;:0.8100000023841858},&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3"/>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4_1"/>
  <p:tag name="KSO_WM_UNIT_ID" val="diagram20238430_1*m_h_i*1_4_1"/>
  <p:tag name="KSO_WM_TEMPLATE_CATEGORY" val="diagram"/>
  <p:tag name="KSO_WM_TEMPLATE_INDEX" val="20238430"/>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6"/>
  <p:tag name="KSO_WM_DIAGRAM_VIRTUALLY_FRAME" val="{&quot;height&quot;:377.05,&quot;left&quot;:75.5,&quot;top&quot;:120.6,&quot;width&quot;:772.2}"/>
  <p:tag name="KSO_WM_DIAGRAM_COLOR_MATCH_VALUE" val="{&quot;shape&quot;:{&quot;fill&quot;:{&quot;gradient&quot;:[{&quot;brightness&quot;:0.25,&quot;colorType&quot;:1,&quot;foreColorIndex&quot;:5,&quot;pos&quot;:0.4399999976158142,&quot;transparency&quot;:0},{&quot;brightness&quot;:0.6000000238418579,&quot;colorType&quot;:1,&quot;foreColorIndex&quot;:5,&quot;pos&quot;:0,&quot;transparency&quot;:0},{&quot;brightness&quot;:0,&quot;colorType&quot;:1,&quot;foreColorIndex&quot;:5,&quot;pos&quot;:0.6600000262260437,&quot;transparency&quot;:0},{&quot;brightness&quot;:0,&quot;colorType&quot;:1,&quot;foreColorIndex&quot;:5,&quot;pos&quot;:1,&quot;transparency&quot;:0}],&quot;type&quot;:3},&quot;glow&quot;:{&quot;colorType&quot;:0},&quot;line&quot;:{&quot;gradient&quot;:[{&quot;brightness&quot;:1,&quot;colorType&quot;:1,&quot;foreColorIndex&quot;:5,&quot;pos&quot;:0.3700000047683716,&quot;transparency&quot;:0},{&quot;brightness&quot;:0.550000011920929,&quot;colorType&quot;:1,&quot;foreColorIndex&quot;:5,&quot;pos&quot;:0,&quot;transparency&quot;:0},{&quot;brightness&quot;:1,&quot;colorType&quot;:1,&quot;foreColorIndex&quot;:5,&quot;pos&quot;:1,&quot;transparency&quot;:0},{&quot;brightness&quot;:0.699999988079071,&quot;colorType&quot;:1,&quot;foreColorIndex&quot;:5,&quot;pos&quot;:0.7099999785423279,&quot;transparency&quot;:0}],&quot;type&quot;:2},&quot;shadow&quot;:{&quot;brightness&quot;:-0.25,&quot;colorType&quot;:1,&quot;foreColorIndex&quot;:5,&quot;transparency&quot;:0.8100000023841858},&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4"/>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5_1"/>
  <p:tag name="KSO_WM_UNIT_ID" val="diagram20238430_1*m_h_i*1_5_1"/>
  <p:tag name="KSO_WM_TEMPLATE_CATEGORY" val="diagram"/>
  <p:tag name="KSO_WM_TEMPLATE_INDEX" val="20238430"/>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6"/>
  <p:tag name="KSO_WM_DIAGRAM_VIRTUALLY_FRAME" val="{&quot;height&quot;:377.05,&quot;left&quot;:75.5,&quot;top&quot;:120.6,&quot;width&quot;:772.2}"/>
  <p:tag name="KSO_WM_DIAGRAM_COLOR_MATCH_VALUE" val="{&quot;shape&quot;:{&quot;fill&quot;:{&quot;gradient&quot;:[{&quot;brightness&quot;:0.25,&quot;colorType&quot;:1,&quot;foreColorIndex&quot;:5,&quot;pos&quot;:0.4399999976158142,&quot;transparency&quot;:0},{&quot;brightness&quot;:0.6000000238418579,&quot;colorType&quot;:1,&quot;foreColorIndex&quot;:5,&quot;pos&quot;:0,&quot;transparency&quot;:0},{&quot;brightness&quot;:0,&quot;colorType&quot;:1,&quot;foreColorIndex&quot;:5,&quot;pos&quot;:0.6600000262260437,&quot;transparency&quot;:0},{&quot;brightness&quot;:0,&quot;colorType&quot;:1,&quot;foreColorIndex&quot;:5,&quot;pos&quot;:1,&quot;transparency&quot;:0}],&quot;type&quot;:3},&quot;glow&quot;:{&quot;colorType&quot;:0},&quot;line&quot;:{&quot;gradient&quot;:[{&quot;brightness&quot;:1,&quot;colorType&quot;:1,&quot;foreColorIndex&quot;:5,&quot;pos&quot;:0.3700000047683716,&quot;transparency&quot;:0},{&quot;brightness&quot;:0.550000011920929,&quot;colorType&quot;:1,&quot;foreColorIndex&quot;:5,&quot;pos&quot;:0,&quot;transparency&quot;:0},{&quot;brightness&quot;:1,&quot;colorType&quot;:1,&quot;foreColorIndex&quot;:5,&quot;pos&quot;:1,&quot;transparency&quot;:0},{&quot;brightness&quot;:0.699999988079071,&quot;colorType&quot;:1,&quot;foreColorIndex&quot;:5,&quot;pos&quot;:0.7099999785423279,&quot;transparency&quot;:0}],&quot;type&quot;:2},&quot;shadow&quot;:{&quot;brightness&quot;:-0.25,&quot;colorType&quot;:1,&quot;foreColorIndex&quot;:5,&quot;transparency&quot;:0.8100000023841858},&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5"/>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21.xml><?xml version="1.0" encoding="utf-8"?>
<p:tagLst xmlns:p="http://schemas.openxmlformats.org/presentationml/2006/main">
  <p:tag name="TABLE_ENDDRAG_ORIGIN_RECT" val="809*235"/>
  <p:tag name="TABLE_ENDDRAG_RECT" val="66*76*809*235"/>
</p:tagLst>
</file>

<file path=ppt/tags/tag22.xml><?xml version="1.0" encoding="utf-8"?>
<p:tagLst xmlns:p="http://schemas.openxmlformats.org/presentationml/2006/main">
  <p:tag name="resource_record_key" val="{&quot;70&quot;:[3314131,3314611,3322996,3322198,332298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6886</Words>
  <Application>WPS Presentation</Application>
  <PresentationFormat>Widescreen</PresentationFormat>
  <Paragraphs>253</Paragraphs>
  <Slides>30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30</vt:i4>
      </vt:variant>
    </vt:vector>
  </HeadingPairs>
  <TitlesOfParts>
    <vt:vector size="41" baseType="lpstr">
      <vt:lpstr>Arial</vt:lpstr>
      <vt:lpstr>SimSun</vt:lpstr>
      <vt:lpstr>Wingdings</vt:lpstr>
      <vt:lpstr>Times New Roman</vt:lpstr>
      <vt:lpstr>Times New Roman</vt:lpstr>
      <vt:lpstr>Microsoft YaHei</vt:lpstr>
      <vt:lpstr>Arial Unicode MS</vt:lpstr>
      <vt:lpstr>Calibri Light</vt:lpstr>
      <vt:lpstr>Calibri</vt:lpstr>
      <vt:lpstr>Wingdings</vt:lpstr>
      <vt:lpstr>Office Theme</vt:lpstr>
      <vt:lpstr>PHARMACEUTICAL SALES  &amp;  CUSTOMER INSIGHTS</vt:lpstr>
      <vt:lpstr>Objective: </vt:lpstr>
      <vt:lpstr>Problem Statement: </vt:lpstr>
      <vt:lpstr>PowerPoint 演示文稿</vt:lpstr>
      <vt:lpstr>PowerPoint 演示文稿</vt:lpstr>
      <vt:lpstr>Architecture Diagram</vt:lpstr>
      <vt:lpstr>DATA COLLECTION</vt:lpstr>
      <vt:lpstr>PowerPoint 演示文稿</vt:lpstr>
      <vt:lpstr>DATA LOADING:</vt:lpstr>
      <vt:lpstr>PowerPoint 演示文稿</vt:lpstr>
      <vt:lpstr>Data Cleaning in Power Query</vt:lpstr>
      <vt:lpstr>PowerPoint 演示文稿</vt:lpstr>
      <vt:lpstr>PowerPoint 演示文稿</vt:lpstr>
      <vt:lpstr>PowerPoint 演示文稿</vt:lpstr>
      <vt:lpstr>PowerPoint 演示文稿</vt:lpstr>
      <vt:lpstr>PowerPoint 演示文稿</vt:lpstr>
      <vt:lpstr>Star Schema Diagram</vt:lpstr>
      <vt:lpstr>Date lookup</vt:lpstr>
      <vt:lpstr>PowerPoint 演示文稿</vt:lpstr>
      <vt:lpstr>PowerPoint 演示文稿</vt:lpstr>
      <vt:lpstr>REPORT VIEW</vt:lpstr>
      <vt:lpstr>Home Page (Navigation Page)</vt:lpstr>
      <vt:lpstr>PowerPoint 演示文稿</vt:lpstr>
      <vt:lpstr>PowerPoint 演示文稿</vt:lpstr>
      <vt:lpstr>PowerPoint 演示文稿</vt:lpstr>
      <vt:lpstr>PowerPoint 演示文稿</vt:lpstr>
      <vt:lpstr>PowerPoint 演示文稿</vt:lpstr>
      <vt:lpstr>Conclusion</vt:lpstr>
      <vt:lpstr> Future Enhancements &amp;Business Impact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sindhu konapareddy</dc:creator>
  <cp:lastModifiedBy>sindhu vemu</cp:lastModifiedBy>
  <cp:revision>27</cp:revision>
  <dcterms:created xsi:type="dcterms:W3CDTF">2025-07-23T00:59:00Z</dcterms:created>
  <dcterms:modified xsi:type="dcterms:W3CDTF">2025-12-18T07:34:01Z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81BD4858627C409984DB0112B6EE5BDF_13</vt:lpwstr>
  </property>
  <property fmtid="{D5CDD505-2E9C-101B-9397-08002B2CF9AE}" pid="3" name="KSOProductBuildVer">
    <vt:lpwstr>1033-12.2.0.23155</vt:lpwstr>
  </property>
</Properties>
</file>